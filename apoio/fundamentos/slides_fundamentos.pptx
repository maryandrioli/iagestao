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2"/>
  </p:notesMasterIdLst>
  <p:sldIdLst>
    <p:sldId id="256" r:id="rId7"/>
    <p:sldId id="257" r:id="rId8"/>
    <p:sldId id="277" r:id="rIdPerc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9" r:id="rIdG24"/>
    <p:sldId id="270" r:id="rId21"/>
    <p:sldId id="280" r:id="rIdG25"/>
    <p:sldId id="281" r:id="rIdG26"/>
    <p:sldId id="282" r:id="rIdG27"/>
    <p:sldId id="271" r:id="rId22"/>
    <p:sldId id="272" r:id="rId23"/>
    <p:sldId id="273" r:id="rId24"/>
    <p:sldId id="274" r:id="rId25"/>
    <p:sldId id="275" r:id="rId26"/>
    <p:sldId id="278" r:id="rIdNewark2"/>
    <p:sldId id="283" r:id="rIdSaiba"/>
    <p:sldId id="276" r:id="rId2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7"/>
    <p:restoredTop sz="94630"/>
  </p:normalViewPr>
  <p:slideViewPr>
    <p:cSldViewPr snapToGrid="0" snapToObjects="1">
      <p:cViewPr varScale="1">
        <p:scale>
          <a:sx n="113" d="100"/>
          <a:sy n="113" d="100"/>
        </p:scale>
        <p:origin x="544" y="1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32" Type="http://schemas.openxmlformats.org/officeDocument/2006/relationships/notesMaster" Target="notesMasters/notesMaster1.xml"/><Relationship Id="rId33" Type="http://schemas.openxmlformats.org/officeDocument/2006/relationships/presProps" Target="presProps.xml"/><Relationship Id="rId34" Type="http://schemas.openxmlformats.org/officeDocument/2006/relationships/viewProps" Target="viewProps.xml"/><Relationship Id="rId35" Type="http://schemas.openxmlformats.org/officeDocument/2006/relationships/theme" Target="theme/theme1.xml"/><Relationship Id="rId36" Type="http://schemas.openxmlformats.org/officeDocument/2006/relationships/tableStyles" Target="tableStyles.xml"/><Relationship Id="rIdPerc" Type="http://schemas.openxmlformats.org/officeDocument/2006/relationships/slide" Target="slides/slide22.xml"/><Relationship Id="rIdNewark2" Type="http://schemas.openxmlformats.org/officeDocument/2006/relationships/slide" Target="slides/slide23.xml"/><Relationship Id="rIdG24" Type="http://schemas.openxmlformats.org/officeDocument/2006/relationships/slide" Target="slides/slide24.xml"/><Relationship Id="rIdG25" Type="http://schemas.openxmlformats.org/officeDocument/2006/relationships/slide" Target="slides/slide25.xml"/><Relationship Id="rIdG26" Type="http://schemas.openxmlformats.org/officeDocument/2006/relationships/slide" Target="slides/slide26.xml"/><Relationship Id="rIdG27" Type="http://schemas.openxmlformats.org/officeDocument/2006/relationships/slide" Target="slides/slide27.xml"/><Relationship Id="rIdSaiba" Type="http://schemas.openxmlformats.org/officeDocument/2006/relationships/slide" Target="slides/slide2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08411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MEC" Type="http://schemas.openxmlformats.org/officeDocument/2006/relationships/hyperlink" Target="https://www.gov.br/mec/pt-br/referencial-de-ia-na-educacao" TargetMode="Externa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Vis" Type="http://schemas.openxmlformats.org/officeDocument/2006/relationships/image" Target="../media/vis_planos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Vis" Type="http://schemas.openxmlformats.org/officeDocument/2006/relationships/image" Target="../media/vis_comunicacao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Vis" Type="http://schemas.openxmlformats.org/officeDocument/2006/relationships/image" Target="../media/vis_triagem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Vis" Type="http://schemas.openxmlformats.org/officeDocument/2006/relationships/image" Target="../media/vis_fontes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MEC" Type="http://schemas.openxmlformats.org/officeDocument/2006/relationships/hyperlink" Target="https://www.gov.br/mec/pt-br/referencial-de-ia-na-educacao" TargetMode="Externa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MEC" Type="http://schemas.openxmlformats.org/officeDocument/2006/relationships/hyperlink" Target="https://www.gov.br/mec/pt-br/referencial-de-ia-na-educacao" TargetMode="Externa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R7img" Type="http://schemas.openxmlformats.org/officeDocument/2006/relationships/image" Target="../media/image_r7_newark.png"/><Relationship Id="rIdR7" Type="http://schemas.openxmlformats.org/officeDocument/2006/relationships/hyperlink" Target="https://noticias.r7.com/educacao/escola-nos-eua-causa-polemica-ao-virar-cobaia-e-adotar-inteligencia-artificial-que-dispensa-professor-09072023/" TargetMode="Externa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Sol" Type="http://schemas.openxmlformats.org/officeDocument/2006/relationships/image" Target="../media/vis_sol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R7" Type="http://schemas.openxmlformats.org/officeDocument/2006/relationships/hyperlink" Target="https://noticias.r7.com/educacao/escola-nos-eua-causa-polemica-ao-virar-cobaia-e-adotar-inteligencia-artificial-que-dispensa-professor-09072023/" TargetMode="External"/><Relationship Id="rIdVis" Type="http://schemas.openxmlformats.org/officeDocument/2006/relationships/image" Target="../media/vis_newark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Guia" Type="http://schemas.openxmlformats.org/officeDocument/2006/relationships/hyperlink" Target="guia_introducao_tela_da_ia.pdf" TargetMode="External"/><Relationship Id="rIdSol" Type="http://schemas.openxmlformats.org/officeDocument/2006/relationships/image" Target="../media/vis_sol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Guia" Type="http://schemas.openxmlformats.org/officeDocument/2006/relationships/hyperlink" Target="guia_introducao_tela_da_ia.pdf" TargetMode="External"/><Relationship Id="rIdInfo" Type="http://schemas.openxmlformats.org/officeDocument/2006/relationships/image" Target="../media/info_tela_da_ia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Guia" Type="http://schemas.openxmlformats.org/officeDocument/2006/relationships/hyperlink" Target="guia_introducao_tela_da_ia.pdf" TargetMode="External"/><Relationship Id="rIdSol" Type="http://schemas.openxmlformats.org/officeDocument/2006/relationships/image" Target="../media/vis_sol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Guia" Type="http://schemas.openxmlformats.org/officeDocument/2006/relationships/hyperlink" Target="guia_introducao_tela_da_ia.pdf" TargetMode="External"/><Relationship Id="rIdInfo" Type="http://schemas.openxmlformats.org/officeDocument/2006/relationships/image" Target="../media/info_extensoes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V0" Type="http://schemas.openxmlformats.org/officeDocument/2006/relationships/hyperlink" Target="https://www.youtube.com/watch?v=L3izneoN9vA&amp;list=PLM38HRhhaE2eSMapu_z9EndXC0QZddewF" TargetMode="External"/><Relationship Id="rIdV1" Type="http://schemas.openxmlformats.org/officeDocument/2006/relationships/hyperlink" Target="https://www.youtube.com/watch?v=ZBUOGrrGS5U" TargetMode="External"/><Relationship Id="rIdV2" Type="http://schemas.openxmlformats.org/officeDocument/2006/relationships/hyperlink" Target="https://www.youtube.com/watch?v=41gfG3R9X7M&amp;list=PLM38HRhhaE2dpbZ3Qho645mi4SHNPLLOu&amp;index=8&amp;t=47s" TargetMode="External"/><Relationship Id="rIdV3" Type="http://schemas.openxmlformats.org/officeDocument/2006/relationships/hyperlink" Target="https://www.youtube.com/watch?v=Jh-WBILLfB8&amp;list=PLM38HRhhaE2dpbZ3Qho645mi4SHNPLLOu&amp;index=14" TargetMode="External"/><Relationship Id="rIdV4" Type="http://schemas.openxmlformats.org/officeDocument/2006/relationships/hyperlink" Target="https://www.youtube.com/watch?v=yQuXlzR956c&amp;list=PLM38HRhhaE2dpbZ3Qho645mi4SHNPLLOu&amp;index=19&amp;t=763s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77240" y="685800"/>
            <a:ext cx="82296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Calibri"/>
              </a:rPr>
              <a:t>Humus Educação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234440"/>
            <a:ext cx="8686800" cy="18288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4400" b="1">
                <a:solidFill>
                  <a:srgbClr val="7ED957"/>
                </a:solidFill>
                <a:latin typeface="Calibri"/>
              </a:rPr>
              <a:t>IA para gestores escolares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3154680"/>
            <a:ext cx="3840480" cy="25603"/>
          </a:xfrm>
          <a:prstGeom prst="rect">
            <a:avLst/>
          </a:prstGeom>
          <a:solidFill>
            <a:srgbClr val="7ED9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4581144" y="3113532"/>
            <a:ext cx="128016" cy="128016"/>
          </a:xfrm>
          <a:prstGeom prst="ellipse">
            <a:avLst/>
          </a:prstGeom>
          <a:solidFill>
            <a:srgbClr val="7ED9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3383280"/>
            <a:ext cx="7315200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0">
                <a:solidFill>
                  <a:srgbClr val="FFFFFF"/>
                </a:solidFill>
                <a:latin typeface="Calibri"/>
              </a:rPr>
              <a:t>A inteligência artificial na prática da liderança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4572000"/>
            <a:ext cx="731520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>
                <a:solidFill>
                  <a:srgbClr val="C9D6E0"/>
                </a:solidFill>
                <a:latin typeface="Calibri"/>
              </a:rPr>
              <a:t>Profa. Dra. Mary Grace Pereira Andrioli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88720" y="1828800"/>
            <a:ext cx="82296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29ABE2"/>
                </a:solidFill>
                <a:latin typeface="Calibri"/>
              </a:rPr>
              <a:t>FUNDAMENTOS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2240280"/>
            <a:ext cx="8686800" cy="1371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Fundamentos, panorama e cultura de dados</a:t>
            </a:r>
          </a:p>
        </p:txBody>
      </p:sp>
      <p:sp>
        <p:nvSpPr>
          <p:cNvPr id="5" name="Rectangle 4"/>
          <p:cNvSpPr/>
          <p:nvPr/>
        </p:nvSpPr>
        <p:spPr>
          <a:xfrm>
            <a:off x="1188720" y="3703320"/>
            <a:ext cx="3291840" cy="25603"/>
          </a:xfrm>
          <a:prstGeom prst="rect">
            <a:avLst/>
          </a:prstGeom>
          <a:solidFill>
            <a:srgbClr val="7ED9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4443984" y="3662172"/>
            <a:ext cx="128016" cy="128016"/>
          </a:xfrm>
          <a:prstGeom prst="ellipse">
            <a:avLst/>
          </a:prstGeom>
          <a:solidFill>
            <a:srgbClr val="7ED9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88720" y="3886200"/>
            <a:ext cx="9144000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0">
                <a:solidFill>
                  <a:srgbClr val="7ED957"/>
                </a:solidFill>
                <a:latin typeface="Calibri"/>
              </a:rPr>
              <a:t>Vocabulário para decidir, e não apenas para operar.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4663440"/>
            <a:ext cx="548640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Primeiro, compreender. Depois, testar. Por fim, decidir como implementar.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77240" y="411480"/>
            <a:ext cx="969264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3600" b="1">
                <a:solidFill>
                  <a:srgbClr val="7ED957"/>
                </a:solidFill>
                <a:latin typeface="Calibri"/>
              </a:rPr>
              <a:t>Três formas de IA </a:t>
            </a:r>
            <a:r>
              <a:rPr sz="3600" b="1">
                <a:solidFill>
                  <a:srgbClr val="FFFFFF"/>
                </a:solidFill>
                <a:latin typeface="Calibri"/>
              </a:rPr>
              <a:t>convivem na escola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097280"/>
            <a:ext cx="987552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>
                <a:solidFill>
                  <a:srgbClr val="7ED957"/>
                </a:solidFill>
                <a:latin typeface="Calibri"/>
              </a:rPr>
              <a:t>Cada uma responde a um tipo de pedido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72768"/>
            <a:ext cx="4206240" cy="25603"/>
          </a:xfrm>
          <a:prstGeom prst="rect">
            <a:avLst/>
          </a:prstGeom>
          <a:solidFill>
            <a:srgbClr val="7ED9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4946903" y="1531620"/>
            <a:ext cx="128016" cy="128016"/>
          </a:xfrm>
          <a:prstGeom prst="ellipse">
            <a:avLst/>
          </a:prstGeom>
          <a:solidFill>
            <a:srgbClr val="7ED9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965960"/>
            <a:ext cx="3383279" cy="2743200"/>
          </a:xfrm>
          <a:prstGeom prst="roundRect">
            <a:avLst>
              <a:gd name="adj" fmla="val 6000"/>
            </a:avLst>
          </a:prstGeom>
          <a:solidFill>
            <a:srgbClr val="0B2236"/>
          </a:solidFill>
          <a:ln w="15875">
            <a:solidFill>
              <a:srgbClr val="1B4A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64592" bIns="164592"/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29ABE2"/>
                </a:solidFill>
                <a:latin typeface="Calibri"/>
              </a:rPr>
              <a:t>PREVER</a:t>
            </a:r>
          </a:p>
          <a:p>
            <a:pPr algn="l">
              <a:spcAft>
                <a:spcPts val="600"/>
              </a:spcAft>
            </a:pPr>
            <a:r>
              <a:rPr sz="2400" b="1">
                <a:solidFill>
                  <a:srgbClr val="7ED957"/>
                </a:solidFill>
                <a:latin typeface="Calibri"/>
              </a:rPr>
              <a:t>IA preditiva</a:t>
            </a:r>
          </a:p>
          <a:p>
            <a:pPr algn="l">
              <a:spcAft>
                <a:spcPts val="6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"O que vai acontecer?" Classifica, prevê e recomenda.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965960"/>
            <a:ext cx="3383279" cy="2743200"/>
          </a:xfrm>
          <a:prstGeom prst="roundRect">
            <a:avLst>
              <a:gd name="adj" fmla="val 6000"/>
            </a:avLst>
          </a:prstGeom>
          <a:solidFill>
            <a:srgbClr val="0B2236"/>
          </a:solidFill>
          <a:ln w="15875">
            <a:solidFill>
              <a:srgbClr val="1B4A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64592" bIns="164592"/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29ABE2"/>
                </a:solidFill>
                <a:latin typeface="Calibri"/>
              </a:rPr>
              <a:t>PRODUZIR</a:t>
            </a:r>
          </a:p>
          <a:p>
            <a:pPr algn="l">
              <a:spcAft>
                <a:spcPts val="600"/>
              </a:spcAft>
            </a:pPr>
            <a:r>
              <a:rPr sz="2400" b="1">
                <a:solidFill>
                  <a:srgbClr val="7ED957"/>
                </a:solidFill>
                <a:latin typeface="Calibri"/>
              </a:rPr>
              <a:t>IA generativa</a:t>
            </a:r>
          </a:p>
          <a:p>
            <a:pPr algn="l">
              <a:spcAft>
                <a:spcPts val="6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"Produza para mim." Cria texto, imagem e áudio.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01000" y="1965960"/>
            <a:ext cx="3383279" cy="2743200"/>
          </a:xfrm>
          <a:prstGeom prst="roundRect">
            <a:avLst>
              <a:gd name="adj" fmla="val 6000"/>
            </a:avLst>
          </a:prstGeom>
          <a:solidFill>
            <a:srgbClr val="0B2236"/>
          </a:solidFill>
          <a:ln w="15875">
            <a:solidFill>
              <a:srgbClr val="1B4A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64592" bIns="164592"/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29ABE2"/>
                </a:solidFill>
                <a:latin typeface="Calibri"/>
              </a:rPr>
              <a:t>EXECUTAR</a:t>
            </a:r>
          </a:p>
          <a:p>
            <a:pPr algn="l">
              <a:spcAft>
                <a:spcPts val="600"/>
              </a:spcAft>
            </a:pPr>
            <a:r>
              <a:rPr sz="2400" b="1">
                <a:solidFill>
                  <a:srgbClr val="7ED957"/>
                </a:solidFill>
                <a:latin typeface="Calibri"/>
              </a:rPr>
              <a:t>IA agêntica</a:t>
            </a:r>
          </a:p>
          <a:p>
            <a:pPr algn="l">
              <a:spcAft>
                <a:spcPts val="6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"Resolva este processo." Planeja e executa etapas.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937760"/>
            <a:ext cx="1060704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7ED957"/>
                </a:solidFill>
                <a:latin typeface="Calibri"/>
              </a:rPr>
              <a:t>Pergunta: </a:t>
            </a:r>
            <a:r>
              <a:rPr sz="2000" b="0">
                <a:solidFill>
                  <a:srgbClr val="FFFFFF"/>
                </a:solidFill>
                <a:latin typeface="Calibri"/>
              </a:rPr>
              <a:t>o que os sistemas já contratados pela escola decidem sozinhos?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77240" y="411480"/>
            <a:ext cx="969264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3600" b="1">
                <a:solidFill>
                  <a:srgbClr val="7ED957"/>
                </a:solidFill>
                <a:latin typeface="Calibri"/>
              </a:rPr>
              <a:t>IA preditiva: </a:t>
            </a:r>
            <a:r>
              <a:rPr sz="3600" b="1">
                <a:solidFill>
                  <a:srgbClr val="FFFFFF"/>
                </a:solidFill>
                <a:latin typeface="Calibri"/>
              </a:rPr>
              <a:t>prever a partir do passado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097280"/>
            <a:ext cx="987552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>
                <a:solidFill>
                  <a:srgbClr val="7ED957"/>
                </a:solidFill>
                <a:latin typeface="Calibri"/>
              </a:rPr>
              <a:t>Estima uma classe ou probabilidade a partir de padrões em dados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72768"/>
            <a:ext cx="4206240" cy="25603"/>
          </a:xfrm>
          <a:prstGeom prst="rect">
            <a:avLst/>
          </a:prstGeom>
          <a:solidFill>
            <a:srgbClr val="7ED9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4946903" y="1531620"/>
            <a:ext cx="128016" cy="128016"/>
          </a:xfrm>
          <a:prstGeom prst="ellipse">
            <a:avLst/>
          </a:prstGeom>
          <a:solidFill>
            <a:srgbClr val="7ED9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920240"/>
            <a:ext cx="4206240" cy="3246120"/>
          </a:xfrm>
          <a:prstGeom prst="roundRect">
            <a:avLst>
              <a:gd name="adj" fmla="val 6000"/>
            </a:avLst>
          </a:prstGeom>
          <a:solidFill>
            <a:srgbClr val="0B2236"/>
          </a:solidFill>
          <a:ln w="15875">
            <a:solidFill>
              <a:srgbClr val="1B4A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64592" bIns="164592"/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29ABE2"/>
                </a:solidFill>
                <a:latin typeface="Calibri"/>
              </a:rPr>
              <a:t>PREVER</a:t>
            </a:r>
          </a:p>
          <a:p>
            <a:pPr algn="l">
              <a:spcAft>
                <a:spcPts val="600"/>
              </a:spcAft>
            </a:pPr>
            <a:r>
              <a:rPr sz="2400" b="1">
                <a:solidFill>
                  <a:srgbClr val="7ED957"/>
                </a:solidFill>
                <a:latin typeface="Calibri"/>
              </a:rPr>
              <a:t>Como funciona</a:t>
            </a:r>
          </a:p>
          <a:p>
            <a:pPr algn="l">
              <a:spcAft>
                <a:spcPts val="6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Estima uma classe ou probabilidade a partir de dados. O resultado é uma estimativa, não uma decisão nem uma explicação de causa.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257800" y="1874519"/>
            <a:ext cx="612648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29ABE2"/>
                </a:solidFill>
                <a:latin typeface="Calibri"/>
              </a:rPr>
              <a:t>NA ESCOLA: SISTEMAS QUE PODEM USAR IA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257800" y="2240280"/>
            <a:ext cx="6126480" cy="3017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>
                <a:solidFill>
                  <a:srgbClr val="7ED957"/>
                </a:solidFill>
                <a:latin typeface="Calibri"/>
              </a:rPr>
              <a:t>●  </a:t>
            </a:r>
            <a:r>
              <a:rPr sz="2000" b="0">
                <a:solidFill>
                  <a:srgbClr val="FFFFFF"/>
                </a:solidFill>
                <a:latin typeface="Calibri"/>
              </a:rPr>
              <a:t>Alerta de risco de evasão (frequência e notas)</a:t>
            </a:r>
          </a:p>
          <a:p>
            <a:pPr algn="l">
              <a:spcAft>
                <a:spcPts val="600"/>
              </a:spcAft>
            </a:pPr>
            <a:r>
              <a:rPr sz="2000" b="0">
                <a:solidFill>
                  <a:srgbClr val="7ED957"/>
                </a:solidFill>
                <a:latin typeface="Calibri"/>
              </a:rPr>
              <a:t>●  </a:t>
            </a:r>
            <a:r>
              <a:rPr sz="2000" b="0">
                <a:solidFill>
                  <a:srgbClr val="FFFFFF"/>
                </a:solidFill>
                <a:latin typeface="Calibri"/>
              </a:rPr>
              <a:t>Trilhas sugeridas por plataformas adaptativas</a:t>
            </a:r>
          </a:p>
          <a:p>
            <a:pPr algn="l">
              <a:spcAft>
                <a:spcPts val="600"/>
              </a:spcAft>
            </a:pPr>
            <a:r>
              <a:rPr sz="2000" b="0">
                <a:solidFill>
                  <a:srgbClr val="7ED957"/>
                </a:solidFill>
                <a:latin typeface="Calibri"/>
              </a:rPr>
              <a:t>●  </a:t>
            </a:r>
            <a:r>
              <a:rPr sz="2000" b="0">
                <a:solidFill>
                  <a:srgbClr val="FFFFFF"/>
                </a:solidFill>
                <a:latin typeface="Calibri"/>
              </a:rPr>
              <a:t>Correção de itens objetivos (às vezes é só regra fixa)</a:t>
            </a:r>
          </a:p>
          <a:p>
            <a:pPr algn="l">
              <a:spcAft>
                <a:spcPts val="600"/>
              </a:spcAft>
            </a:pPr>
            <a:r>
              <a:rPr sz="2000" b="0">
                <a:solidFill>
                  <a:srgbClr val="7ED957"/>
                </a:solidFill>
                <a:latin typeface="Calibri"/>
              </a:rPr>
              <a:t>●  </a:t>
            </a:r>
            <a:r>
              <a:rPr sz="2000" b="0">
                <a:solidFill>
                  <a:srgbClr val="FFFFFF"/>
                </a:solidFill>
                <a:latin typeface="Calibri"/>
              </a:rPr>
              <a:t>Previsão de rematrículas e de formação de turmas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5303520"/>
            <a:ext cx="1060704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F2A541"/>
                </a:solidFill>
                <a:latin typeface="Calibri"/>
              </a:rPr>
              <a:t>Cuidado: </a:t>
            </a:r>
            <a:r>
              <a:rPr sz="2000" b="0">
                <a:solidFill>
                  <a:srgbClr val="FFFFFF"/>
                </a:solidFill>
                <a:latin typeface="Calibri"/>
              </a:rPr>
              <a:t>pergunte ao fornecedor se é IA ou regra fixa. Dado enviesado gera rótulo injusto; decisão sobre estudante exige revisão humana.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77240" y="411480"/>
            <a:ext cx="969264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3600" b="1">
                <a:solidFill>
                  <a:srgbClr val="7ED957"/>
                </a:solidFill>
                <a:latin typeface="Calibri"/>
              </a:rPr>
              <a:t>IA generativa: </a:t>
            </a:r>
            <a:r>
              <a:rPr sz="3600" b="1">
                <a:solidFill>
                  <a:srgbClr val="FFFFFF"/>
                </a:solidFill>
                <a:latin typeface="Calibri"/>
              </a:rPr>
              <a:t>produzir a partir de um pedido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097280"/>
            <a:ext cx="987552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>
                <a:solidFill>
                  <a:srgbClr val="7ED957"/>
                </a:solidFill>
                <a:latin typeface="Calibri"/>
              </a:rPr>
              <a:t>Cria conteúdo novo a partir de padrões aprendidos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72768"/>
            <a:ext cx="4206240" cy="25603"/>
          </a:xfrm>
          <a:prstGeom prst="rect">
            <a:avLst/>
          </a:prstGeom>
          <a:solidFill>
            <a:srgbClr val="7ED9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4946903" y="1531620"/>
            <a:ext cx="128016" cy="128016"/>
          </a:xfrm>
          <a:prstGeom prst="ellipse">
            <a:avLst/>
          </a:prstGeom>
          <a:solidFill>
            <a:srgbClr val="7ED9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920240"/>
            <a:ext cx="4206240" cy="3246120"/>
          </a:xfrm>
          <a:prstGeom prst="roundRect">
            <a:avLst>
              <a:gd name="adj" fmla="val 6000"/>
            </a:avLst>
          </a:prstGeom>
          <a:solidFill>
            <a:srgbClr val="0B2236"/>
          </a:solidFill>
          <a:ln w="15875">
            <a:solidFill>
              <a:srgbClr val="1B4A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64592" bIns="164592"/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29ABE2"/>
                </a:solidFill>
                <a:latin typeface="Calibri"/>
              </a:rPr>
              <a:t>PRODUZIR</a:t>
            </a:r>
          </a:p>
          <a:p>
            <a:pPr algn="l">
              <a:spcAft>
                <a:spcPts val="600"/>
              </a:spcAft>
            </a:pPr>
            <a:r>
              <a:rPr sz="2400" b="1">
                <a:solidFill>
                  <a:srgbClr val="7ED957"/>
                </a:solidFill>
                <a:latin typeface="Calibri"/>
              </a:rPr>
              <a:t>Como funciona</a:t>
            </a:r>
          </a:p>
          <a:p>
            <a:pPr algn="l">
              <a:spcAft>
                <a:spcPts val="6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Recebe uma instrução e produz texto, imagem, áudio ou código. Nos modelos de linguagem, o texto sai em pequenas partes plausíveis, sem verificar se é verdade.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257800" y="1874519"/>
            <a:ext cx="612648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29ABE2"/>
                </a:solidFill>
                <a:latin typeface="Calibri"/>
              </a:rPr>
              <a:t>NA ESCOLA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257800" y="2240280"/>
            <a:ext cx="6126480" cy="3017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>
                <a:solidFill>
                  <a:srgbClr val="7ED957"/>
                </a:solidFill>
                <a:latin typeface="Calibri"/>
              </a:rPr>
              <a:t>●  </a:t>
            </a:r>
            <a:r>
              <a:rPr sz="2000" b="0">
                <a:solidFill>
                  <a:srgbClr val="FFFFFF"/>
                </a:solidFill>
                <a:latin typeface="Calibri"/>
              </a:rPr>
              <a:t>Comunicado em versões para famílias, equipe e redes</a:t>
            </a:r>
          </a:p>
          <a:p>
            <a:pPr algn="l">
              <a:spcAft>
                <a:spcPts val="600"/>
              </a:spcAft>
            </a:pPr>
            <a:r>
              <a:rPr sz="2000" b="0">
                <a:solidFill>
                  <a:srgbClr val="7ED957"/>
                </a:solidFill>
                <a:latin typeface="Calibri"/>
              </a:rPr>
              <a:t>●  </a:t>
            </a:r>
            <a:r>
              <a:rPr sz="2000" b="0">
                <a:solidFill>
                  <a:srgbClr val="FFFFFF"/>
                </a:solidFill>
                <a:latin typeface="Calibri"/>
              </a:rPr>
              <a:t>Ata a partir da transcrição da reunião</a:t>
            </a:r>
          </a:p>
          <a:p>
            <a:pPr algn="l">
              <a:spcAft>
                <a:spcPts val="600"/>
              </a:spcAft>
            </a:pPr>
            <a:r>
              <a:rPr sz="2000" b="0">
                <a:solidFill>
                  <a:srgbClr val="7ED957"/>
                </a:solidFill>
                <a:latin typeface="Calibri"/>
              </a:rPr>
              <a:t>●  </a:t>
            </a:r>
            <a:r>
              <a:rPr sz="2000" b="0">
                <a:solidFill>
                  <a:srgbClr val="FFFFFF"/>
                </a:solidFill>
                <a:latin typeface="Calibri"/>
              </a:rPr>
              <a:t>Rubricas e variações de uma atividade</a:t>
            </a:r>
          </a:p>
          <a:p>
            <a:pPr algn="l">
              <a:spcAft>
                <a:spcPts val="600"/>
              </a:spcAft>
            </a:pPr>
            <a:r>
              <a:rPr sz="2000" b="0">
                <a:solidFill>
                  <a:srgbClr val="7ED957"/>
                </a:solidFill>
                <a:latin typeface="Calibri"/>
              </a:rPr>
              <a:t>●  </a:t>
            </a:r>
            <a:r>
              <a:rPr sz="2000" b="0">
                <a:solidFill>
                  <a:srgbClr val="FFFFFF"/>
                </a:solidFill>
                <a:latin typeface="Calibri"/>
              </a:rPr>
              <a:t>Resumo de documentos longos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5303520"/>
            <a:ext cx="1060704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F2A541"/>
                </a:solidFill>
                <a:latin typeface="Calibri"/>
              </a:rPr>
              <a:t>Cuidado: </a:t>
            </a:r>
            <a:r>
              <a:rPr sz="2000" b="0">
                <a:solidFill>
                  <a:srgbClr val="FFFFFF"/>
                </a:solidFill>
                <a:latin typeface="Calibri"/>
              </a:rPr>
              <a:t>pode apresentar com fluência informação falsa ou sem apoio, e tende ao tom genérico. Quem assina, revisa.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77240" y="411480"/>
            <a:ext cx="969264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3600" b="1">
                <a:solidFill>
                  <a:srgbClr val="7ED957"/>
                </a:solidFill>
                <a:latin typeface="Calibri"/>
              </a:rPr>
              <a:t>Quatro noções </a:t>
            </a:r>
            <a:r>
              <a:rPr sz="3600" b="1">
                <a:solidFill>
                  <a:srgbClr val="FFFFFF"/>
                </a:solidFill>
                <a:latin typeface="Calibri"/>
              </a:rPr>
              <a:t>que explicam acertos e erros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097280"/>
            <a:ext cx="987552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>
                <a:solidFill>
                  <a:srgbClr val="7ED957"/>
                </a:solidFill>
                <a:latin typeface="Calibri"/>
              </a:rPr>
              <a:t>Valem para os modelos de linguagem, como os chats de IA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72768"/>
            <a:ext cx="4206240" cy="25603"/>
          </a:xfrm>
          <a:prstGeom prst="rect">
            <a:avLst/>
          </a:prstGeom>
          <a:solidFill>
            <a:srgbClr val="7ED9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4946903" y="1531620"/>
            <a:ext cx="128016" cy="128016"/>
          </a:xfrm>
          <a:prstGeom prst="ellipse">
            <a:avLst/>
          </a:prstGeom>
          <a:solidFill>
            <a:srgbClr val="7ED9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920240"/>
            <a:ext cx="5166360" cy="1600200"/>
          </a:xfrm>
          <a:prstGeom prst="roundRect">
            <a:avLst>
              <a:gd name="adj" fmla="val 6000"/>
            </a:avLst>
          </a:prstGeom>
          <a:solidFill>
            <a:srgbClr val="0B2236"/>
          </a:solidFill>
          <a:ln w="15875">
            <a:solidFill>
              <a:srgbClr val="1B4A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64592" bIns="164592"/>
          <a:lstStyle/>
          <a:p>
            <a:pPr algn="l">
              <a:spcAft>
                <a:spcPts val="600"/>
              </a:spcAft>
            </a:pPr>
            <a:r>
              <a:rPr sz="2400" b="1">
                <a:solidFill>
                  <a:srgbClr val="7ED957"/>
                </a:solidFill>
                <a:latin typeface="Calibri"/>
              </a:rPr>
              <a:t>Texto plausível</a:t>
            </a:r>
          </a:p>
          <a:p>
            <a:pPr algn="l">
              <a:spcAft>
                <a:spcPts val="6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Gera a continuação mais plausível; isso, por si só, não verifica a verdade.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920240"/>
            <a:ext cx="5166360" cy="1600200"/>
          </a:xfrm>
          <a:prstGeom prst="roundRect">
            <a:avLst>
              <a:gd name="adj" fmla="val 6000"/>
            </a:avLst>
          </a:prstGeom>
          <a:solidFill>
            <a:srgbClr val="0B2236"/>
          </a:solidFill>
          <a:ln w="15875">
            <a:solidFill>
              <a:srgbClr val="1B4A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64592" bIns="164592"/>
          <a:lstStyle/>
          <a:p>
            <a:pPr algn="l">
              <a:spcAft>
                <a:spcPts val="600"/>
              </a:spcAft>
            </a:pPr>
            <a:r>
              <a:rPr sz="2400" b="1">
                <a:solidFill>
                  <a:srgbClr val="7ED957"/>
                </a:solidFill>
                <a:latin typeface="Calibri"/>
              </a:rPr>
              <a:t>Alucinação</a:t>
            </a:r>
          </a:p>
          <a:p>
            <a:pPr algn="l">
              <a:spcAft>
                <a:spcPts val="6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Saída falsa ou sem apoio, dita com fluência (leis, autores, números). Não é intenção de enganar.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3703320"/>
            <a:ext cx="5166360" cy="1600200"/>
          </a:xfrm>
          <a:prstGeom prst="roundRect">
            <a:avLst>
              <a:gd name="adj" fmla="val 6000"/>
            </a:avLst>
          </a:prstGeom>
          <a:solidFill>
            <a:srgbClr val="0B2236"/>
          </a:solidFill>
          <a:ln w="15875">
            <a:solidFill>
              <a:srgbClr val="1B4A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64592" bIns="164592"/>
          <a:lstStyle/>
          <a:p>
            <a:pPr algn="l">
              <a:spcAft>
                <a:spcPts val="600"/>
              </a:spcAft>
            </a:pPr>
            <a:r>
              <a:rPr sz="2400" b="1">
                <a:solidFill>
                  <a:srgbClr val="7ED957"/>
                </a:solidFill>
                <a:latin typeface="Calibri"/>
              </a:rPr>
              <a:t>Janela de contexto</a:t>
            </a:r>
          </a:p>
          <a:p>
            <a:pPr algn="l">
              <a:spcAft>
                <a:spcPts val="6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Há um limite: conversas longas podem perder detalhes ou ser resumidas.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3703320"/>
            <a:ext cx="5166360" cy="1600200"/>
          </a:xfrm>
          <a:prstGeom prst="roundRect">
            <a:avLst>
              <a:gd name="adj" fmla="val 6000"/>
            </a:avLst>
          </a:prstGeom>
          <a:solidFill>
            <a:srgbClr val="0B2236"/>
          </a:solidFill>
          <a:ln w="15875">
            <a:solidFill>
              <a:srgbClr val="1B4A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64592" bIns="164592"/>
          <a:lstStyle/>
          <a:p>
            <a:pPr algn="l">
              <a:spcAft>
                <a:spcPts val="600"/>
              </a:spcAft>
            </a:pPr>
            <a:r>
              <a:rPr sz="2400" b="1">
                <a:solidFill>
                  <a:srgbClr val="7ED957"/>
                </a:solidFill>
                <a:latin typeface="Calibri"/>
              </a:rPr>
              <a:t>Corte de conhecimento</a:t>
            </a:r>
          </a:p>
          <a:p>
            <a:pPr algn="l">
              <a:spcAft>
                <a:spcPts val="6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Varia por modelo. Busca e arquivos trazem o recente, mas a fonte ainda precisa ser conferida.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77240" y="411480"/>
            <a:ext cx="969264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3600" b="1">
                <a:solidFill>
                  <a:srgbClr val="7ED957"/>
                </a:solidFill>
                <a:latin typeface="Calibri"/>
              </a:rPr>
              <a:t>Três limites </a:t>
            </a:r>
            <a:r>
              <a:rPr sz="3600" b="1">
                <a:solidFill>
                  <a:srgbClr val="FFFFFF"/>
                </a:solidFill>
                <a:latin typeface="Calibri"/>
              </a:rPr>
              <a:t>que pesam para quem decide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097280"/>
            <a:ext cx="987552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>
                <a:solidFill>
                  <a:srgbClr val="7ED957"/>
                </a:solidFill>
                <a:latin typeface="Calibri"/>
              </a:rPr>
              <a:t>Orientações do Referencial do MEC (2026), documento orientador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72768"/>
            <a:ext cx="4206240" cy="25603"/>
          </a:xfrm>
          <a:prstGeom prst="rect">
            <a:avLst/>
          </a:prstGeom>
          <a:solidFill>
            <a:srgbClr val="7ED9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4946903" y="1531620"/>
            <a:ext cx="128016" cy="128016"/>
          </a:xfrm>
          <a:prstGeom prst="ellipse">
            <a:avLst/>
          </a:prstGeom>
          <a:solidFill>
            <a:srgbClr val="7ED9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965960"/>
            <a:ext cx="3383279" cy="2926080"/>
          </a:xfrm>
          <a:prstGeom prst="roundRect">
            <a:avLst>
              <a:gd name="adj" fmla="val 6000"/>
            </a:avLst>
          </a:prstGeom>
          <a:solidFill>
            <a:srgbClr val="0B2236"/>
          </a:solidFill>
          <a:ln w="15875">
            <a:solidFill>
              <a:srgbClr val="1B4A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64592" bIns="164592"/>
          <a:lstStyle/>
          <a:p>
            <a:pPr algn="l">
              <a:spcAft>
                <a:spcPts val="600"/>
              </a:spcAft>
            </a:pPr>
            <a:r>
              <a:rPr sz="2400" b="1">
                <a:solidFill>
                  <a:srgbClr val="7ED957"/>
                </a:solidFill>
                <a:latin typeface="Calibri"/>
              </a:rPr>
              <a:t>Não equivale a compreender</a:t>
            </a:r>
          </a:p>
          <a:p>
            <a:pPr algn="l">
              <a:spcAft>
                <a:spcPts val="6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Não equivale à compreensão humana nem assume responsabilidade.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965960"/>
            <a:ext cx="3383279" cy="2926080"/>
          </a:xfrm>
          <a:prstGeom prst="roundRect">
            <a:avLst>
              <a:gd name="adj" fmla="val 6000"/>
            </a:avLst>
          </a:prstGeom>
          <a:solidFill>
            <a:srgbClr val="0B2236"/>
          </a:solidFill>
          <a:ln w="15875">
            <a:solidFill>
              <a:srgbClr val="1B4A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64592" bIns="164592"/>
          <a:lstStyle/>
          <a:p>
            <a:pPr algn="l">
              <a:spcAft>
                <a:spcPts val="600"/>
              </a:spcAft>
            </a:pPr>
            <a:r>
              <a:rPr sz="2400" b="1">
                <a:solidFill>
                  <a:srgbClr val="7ED957"/>
                </a:solidFill>
                <a:latin typeface="Calibri"/>
              </a:rPr>
              <a:t>Pode seguir premissas</a:t>
            </a:r>
          </a:p>
          <a:p>
            <a:pPr algn="l">
              <a:spcAft>
                <a:spcPts val="6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Pode acompanhar premissas frágeis do pedido. Peça objeções e confira.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01000" y="1965960"/>
            <a:ext cx="3383279" cy="2926080"/>
          </a:xfrm>
          <a:prstGeom prst="roundRect">
            <a:avLst>
              <a:gd name="adj" fmla="val 6000"/>
            </a:avLst>
          </a:prstGeom>
          <a:solidFill>
            <a:srgbClr val="0B2236"/>
          </a:solidFill>
          <a:ln w="15875">
            <a:solidFill>
              <a:srgbClr val="1B4A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64592" bIns="164592"/>
          <a:lstStyle/>
          <a:p>
            <a:pPr algn="l">
              <a:spcAft>
                <a:spcPts val="600"/>
              </a:spcAft>
            </a:pPr>
            <a:r>
              <a:rPr sz="2400" b="1">
                <a:solidFill>
                  <a:srgbClr val="7ED957"/>
                </a:solidFill>
                <a:latin typeface="Calibri"/>
              </a:rPr>
              <a:t>Explicabilidade limitada</a:t>
            </a:r>
          </a:p>
          <a:p>
            <a:pPr algn="l">
              <a:spcAft>
                <a:spcPts val="6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Registre fontes, entradas, versão e decisões; nenhuma explicação revela todo o funcionamento.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20240" y="5806440"/>
            <a:ext cx="950976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C9D6E0"/>
                </a:solidFill>
                <a:latin typeface="Calibri"/>
                <a:hlinkClick r:id="rIdMEC"/>
              </a:rPr>
              <a:t>MEC. Referencial para Desenvolvimento e Uso Responsáveis de IA na Educação, fev. 2026 (orientações, não norma).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77240" y="411480"/>
            <a:ext cx="969264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3600" b="1">
                <a:solidFill>
                  <a:srgbClr val="7ED957"/>
                </a:solidFill>
                <a:latin typeface="Calibri"/>
              </a:rPr>
              <a:t>IA agêntica: </a:t>
            </a:r>
            <a:r>
              <a:rPr sz="3600" b="1">
                <a:solidFill>
                  <a:srgbClr val="FFFFFF"/>
                </a:solidFill>
                <a:latin typeface="Calibri"/>
              </a:rPr>
              <a:t>delegar um processo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097280"/>
            <a:ext cx="987552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>
                <a:solidFill>
                  <a:srgbClr val="7ED957"/>
                </a:solidFill>
                <a:latin typeface="Calibri"/>
              </a:rPr>
              <a:t>Ela não só responde: age, usando ferramentas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72768"/>
            <a:ext cx="4206240" cy="25603"/>
          </a:xfrm>
          <a:prstGeom prst="rect">
            <a:avLst/>
          </a:prstGeom>
          <a:solidFill>
            <a:srgbClr val="7ED9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4946903" y="1531620"/>
            <a:ext cx="128016" cy="128016"/>
          </a:xfrm>
          <a:prstGeom prst="ellipse">
            <a:avLst/>
          </a:prstGeom>
          <a:solidFill>
            <a:srgbClr val="7ED9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920240"/>
            <a:ext cx="4206240" cy="3246120"/>
          </a:xfrm>
          <a:prstGeom prst="roundRect">
            <a:avLst>
              <a:gd name="adj" fmla="val 6000"/>
            </a:avLst>
          </a:prstGeom>
          <a:solidFill>
            <a:srgbClr val="0B2236"/>
          </a:solidFill>
          <a:ln w="15875">
            <a:solidFill>
              <a:srgbClr val="1B4A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64592" bIns="164592"/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29ABE2"/>
                </a:solidFill>
                <a:latin typeface="Calibri"/>
              </a:rPr>
              <a:t>EXECUTAR</a:t>
            </a:r>
          </a:p>
          <a:p>
            <a:pPr algn="l">
              <a:spcAft>
                <a:spcPts val="600"/>
              </a:spcAft>
            </a:pPr>
            <a:r>
              <a:rPr sz="2400" b="1">
                <a:solidFill>
                  <a:srgbClr val="7ED957"/>
                </a:solidFill>
                <a:latin typeface="Calibri"/>
              </a:rPr>
              <a:t>Como funciona</a:t>
            </a:r>
          </a:p>
          <a:p>
            <a:pPr algn="l">
              <a:spcAft>
                <a:spcPts val="6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Pode encadear etapas e usar ferramentas (arquivos, e-mail, agenda, navegador) dentro das permissões configuradas. A autonomia varia de um agente para outro.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257800" y="1874519"/>
            <a:ext cx="612648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29ABE2"/>
                </a:solidFill>
                <a:latin typeface="Calibri"/>
              </a:rPr>
              <a:t>NA ESCOLA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257800" y="2240280"/>
            <a:ext cx="6126480" cy="3017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>
                <a:solidFill>
                  <a:srgbClr val="7ED957"/>
                </a:solidFill>
                <a:latin typeface="Calibri"/>
              </a:rPr>
              <a:t>●  </a:t>
            </a:r>
            <a:r>
              <a:rPr sz="2000" b="0">
                <a:solidFill>
                  <a:srgbClr val="FFFFFF"/>
                </a:solidFill>
                <a:latin typeface="Calibri"/>
              </a:rPr>
              <a:t>Conferir um lote de planos e preparar devolutivas</a:t>
            </a:r>
          </a:p>
          <a:p>
            <a:pPr algn="l">
              <a:spcAft>
                <a:spcPts val="600"/>
              </a:spcAft>
            </a:pPr>
            <a:r>
              <a:rPr sz="2000" b="0">
                <a:solidFill>
                  <a:srgbClr val="7ED957"/>
                </a:solidFill>
                <a:latin typeface="Calibri"/>
              </a:rPr>
              <a:t>●  </a:t>
            </a:r>
            <a:r>
              <a:rPr sz="2000" b="0">
                <a:solidFill>
                  <a:srgbClr val="FFFFFF"/>
                </a:solidFill>
                <a:latin typeface="Calibri"/>
              </a:rPr>
              <a:t>Organizar a comunicação da semana</a:t>
            </a:r>
          </a:p>
          <a:p>
            <a:pPr algn="l">
              <a:spcAft>
                <a:spcPts val="600"/>
              </a:spcAft>
            </a:pPr>
            <a:r>
              <a:rPr sz="2000" b="0">
                <a:solidFill>
                  <a:srgbClr val="7ED957"/>
                </a:solidFill>
                <a:latin typeface="Calibri"/>
              </a:rPr>
              <a:t>●  </a:t>
            </a:r>
            <a:r>
              <a:rPr sz="2000" b="0">
                <a:solidFill>
                  <a:srgbClr val="FFFFFF"/>
                </a:solidFill>
                <a:latin typeface="Calibri"/>
              </a:rPr>
              <a:t>Triar a caixa de entrada da secretaria</a:t>
            </a:r>
          </a:p>
          <a:p>
            <a:pPr algn="l">
              <a:spcAft>
                <a:spcPts val="600"/>
              </a:spcAft>
            </a:pPr>
            <a:r>
              <a:rPr sz="2000" b="0">
                <a:solidFill>
                  <a:srgbClr val="7ED957"/>
                </a:solidFill>
                <a:latin typeface="Calibri"/>
              </a:rPr>
              <a:t>●  </a:t>
            </a:r>
            <a:r>
              <a:rPr sz="2000" b="0">
                <a:solidFill>
                  <a:srgbClr val="FFFFFF"/>
                </a:solidFill>
                <a:latin typeface="Calibri"/>
              </a:rPr>
              <a:t>Montar relatórios a partir de planilhas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5303520"/>
            <a:ext cx="1060704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F2A541"/>
                </a:solidFill>
                <a:latin typeface="Calibri"/>
              </a:rPr>
              <a:t>Cuidado: </a:t>
            </a:r>
            <a:r>
              <a:rPr sz="2000" b="0">
                <a:solidFill>
                  <a:srgbClr val="FFFFFF"/>
                </a:solidFill>
                <a:latin typeface="Calibri"/>
              </a:rPr>
              <a:t>quanto mais autonomia, mais claro deve estar onde uma pessoa aprova.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77240" y="411480"/>
            <a:ext cx="969264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3600" b="1">
                <a:solidFill>
                  <a:srgbClr val="7ED957"/>
                </a:solidFill>
                <a:latin typeface="Calibri"/>
              </a:rPr>
              <a:t>Assistente </a:t>
            </a:r>
            <a:r>
              <a:rPr sz="3600" b="1">
                <a:solidFill>
                  <a:srgbClr val="FFFFFF"/>
                </a:solidFill>
                <a:latin typeface="Calibri"/>
              </a:rPr>
              <a:t>ou agente?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097280"/>
            <a:ext cx="987552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>
                <a:solidFill>
                  <a:srgbClr val="7ED957"/>
                </a:solidFill>
                <a:latin typeface="Calibri"/>
              </a:rPr>
              <a:t>Um jeito didático de ver a diferença: a autonomia varia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72768"/>
            <a:ext cx="4206240" cy="25603"/>
          </a:xfrm>
          <a:prstGeom prst="rect">
            <a:avLst/>
          </a:prstGeom>
          <a:solidFill>
            <a:srgbClr val="7ED9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4946903" y="1531620"/>
            <a:ext cx="128016" cy="128016"/>
          </a:xfrm>
          <a:prstGeom prst="ellipse">
            <a:avLst/>
          </a:prstGeom>
          <a:solidFill>
            <a:srgbClr val="7ED9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920240"/>
            <a:ext cx="5166360" cy="2743200"/>
          </a:xfrm>
          <a:prstGeom prst="roundRect">
            <a:avLst>
              <a:gd name="adj" fmla="val 6000"/>
            </a:avLst>
          </a:prstGeom>
          <a:solidFill>
            <a:srgbClr val="0B2236"/>
          </a:solidFill>
          <a:ln w="15875">
            <a:solidFill>
              <a:srgbClr val="1B4A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64592" bIns="164592"/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29ABE2"/>
                </a:solidFill>
                <a:latin typeface="Calibri"/>
              </a:rPr>
              <a:t>ASSISTENTE</a:t>
            </a:r>
          </a:p>
          <a:p>
            <a:pPr algn="l">
              <a:spcAft>
                <a:spcPts val="600"/>
              </a:spcAft>
            </a:pPr>
            <a:r>
              <a:rPr sz="2400" b="1">
                <a:solidFill>
                  <a:srgbClr val="7ED957"/>
                </a:solidFill>
                <a:latin typeface="Calibri"/>
              </a:rPr>
              <a:t>Você conduz</a:t>
            </a:r>
          </a:p>
          <a:p>
            <a:pPr algn="l">
              <a:spcAft>
                <a:spcPts val="6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Você pede, ele responde, uma etapa por vez. Ex.: projeto que redige comunicados no tom da escola.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920240"/>
            <a:ext cx="5166360" cy="2743200"/>
          </a:xfrm>
          <a:prstGeom prst="roundRect">
            <a:avLst>
              <a:gd name="adj" fmla="val 6000"/>
            </a:avLst>
          </a:prstGeom>
          <a:solidFill>
            <a:srgbClr val="0B2236"/>
          </a:solidFill>
          <a:ln w="15875">
            <a:solidFill>
              <a:srgbClr val="1B4A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64592" bIns="164592"/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29ABE2"/>
                </a:solidFill>
                <a:latin typeface="Calibri"/>
              </a:rPr>
              <a:t>AGENTE</a:t>
            </a:r>
          </a:p>
          <a:p>
            <a:pPr algn="l">
              <a:spcAft>
                <a:spcPts val="600"/>
              </a:spcAft>
            </a:pPr>
            <a:r>
              <a:rPr sz="2400" b="1">
                <a:solidFill>
                  <a:srgbClr val="7ED957"/>
                </a:solidFill>
                <a:latin typeface="Calibri"/>
              </a:rPr>
              <a:t>Ele conduz, você aprova</a:t>
            </a:r>
          </a:p>
          <a:p>
            <a:pPr algn="l">
              <a:spcAft>
                <a:spcPts val="6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Você dá o objetivo; ele pode encadear etapas e usar ferramentas dentro das permissões, parando nos pontos de aprovação.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4892040"/>
            <a:ext cx="10607040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7ED957"/>
                </a:solidFill>
                <a:latin typeface="Calibri"/>
              </a:rPr>
              <a:t>O modelo é o cérebro; o agente é o corpo: </a:t>
            </a:r>
            <a:r>
              <a:rPr sz="2000" b="0">
                <a:solidFill>
                  <a:srgbClr val="FFFFFF"/>
                </a:solidFill>
                <a:latin typeface="Calibri"/>
              </a:rPr>
              <a:t>instruções, ferramentas e memória em torno do modelo.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77240" y="411480"/>
            <a:ext cx="969264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3600" b="1">
                <a:solidFill>
                  <a:srgbClr val="7ED957"/>
                </a:solidFill>
                <a:latin typeface="Calibri"/>
              </a:rPr>
              <a:t>Exemplo: um agente </a:t>
            </a:r>
            <a:r>
              <a:rPr sz="3600" b="1">
                <a:solidFill>
                  <a:srgbClr val="FFFFFF"/>
                </a:solidFill>
                <a:latin typeface="Calibri"/>
              </a:rPr>
              <a:t>no 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097280"/>
            <a:ext cx="987552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>
                <a:solidFill>
                  <a:srgbClr val="7ED957"/>
                </a:solidFill>
                <a:latin typeface="Calibri"/>
              </a:rPr>
              <a:t>As peças dependem do plano, da configuração e das permissões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72768"/>
            <a:ext cx="4206240" cy="25603"/>
          </a:xfrm>
          <a:prstGeom prst="rect">
            <a:avLst/>
          </a:prstGeom>
          <a:solidFill>
            <a:srgbClr val="7ED9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4946903" y="1531620"/>
            <a:ext cx="128016" cy="128016"/>
          </a:xfrm>
          <a:prstGeom prst="ellipse">
            <a:avLst/>
          </a:prstGeom>
          <a:solidFill>
            <a:srgbClr val="7ED9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965960"/>
            <a:ext cx="2480310" cy="2743200"/>
          </a:xfrm>
          <a:prstGeom prst="roundRect">
            <a:avLst>
              <a:gd name="adj" fmla="val 6000"/>
            </a:avLst>
          </a:prstGeom>
          <a:solidFill>
            <a:srgbClr val="0B2236"/>
          </a:solidFill>
          <a:ln w="15875">
            <a:solidFill>
              <a:srgbClr val="1B4A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64592" bIns="164592"/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29ABE2"/>
                </a:solidFill>
                <a:latin typeface="Calibri"/>
              </a:rPr>
              <a:t>1</a:t>
            </a:r>
          </a:p>
          <a:p>
            <a:pPr algn="l">
              <a:spcAft>
                <a:spcPts val="600"/>
              </a:spcAft>
            </a:pPr>
            <a:r>
              <a:rPr sz="2200" b="1">
                <a:solidFill>
                  <a:srgbClr val="7ED957"/>
                </a:solidFill>
                <a:latin typeface="Calibri"/>
              </a:rPr>
              <a:t>Modelo</a:t>
            </a:r>
          </a:p>
          <a:p>
            <a:pPr algn="l">
              <a:spcAft>
                <a:spcPts val="6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O Claude, que lê, raciocina e escreve.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86150" y="1965960"/>
            <a:ext cx="2480310" cy="2743200"/>
          </a:xfrm>
          <a:prstGeom prst="roundRect">
            <a:avLst>
              <a:gd name="adj" fmla="val 6000"/>
            </a:avLst>
          </a:prstGeom>
          <a:solidFill>
            <a:srgbClr val="0B2236"/>
          </a:solidFill>
          <a:ln w="15875">
            <a:solidFill>
              <a:srgbClr val="1B4A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64592" bIns="164592"/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29ABE2"/>
                </a:solidFill>
                <a:latin typeface="Calibri"/>
              </a:rPr>
              <a:t>2</a:t>
            </a:r>
          </a:p>
          <a:p>
            <a:pPr algn="l">
              <a:spcAft>
                <a:spcPts val="600"/>
              </a:spcAft>
            </a:pPr>
            <a:r>
              <a:rPr sz="2200" b="1">
                <a:solidFill>
                  <a:srgbClr val="7ED957"/>
                </a:solidFill>
                <a:latin typeface="Calibri"/>
              </a:rPr>
              <a:t>Instruções</a:t>
            </a:r>
          </a:p>
          <a:p>
            <a:pPr algn="l">
              <a:spcAft>
                <a:spcPts val="6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Projeto ou skill com papel, regras e critérios da escola.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5059" y="1965960"/>
            <a:ext cx="2480310" cy="2743200"/>
          </a:xfrm>
          <a:prstGeom prst="roundRect">
            <a:avLst>
              <a:gd name="adj" fmla="val 6000"/>
            </a:avLst>
          </a:prstGeom>
          <a:solidFill>
            <a:srgbClr val="0B2236"/>
          </a:solidFill>
          <a:ln w="15875">
            <a:solidFill>
              <a:srgbClr val="1B4A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64592" bIns="164592"/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29ABE2"/>
                </a:solidFill>
                <a:latin typeface="Calibri"/>
              </a:rPr>
              <a:t>3</a:t>
            </a:r>
          </a:p>
          <a:p>
            <a:pPr algn="l">
              <a:spcAft>
                <a:spcPts val="600"/>
              </a:spcAft>
            </a:pPr>
            <a:r>
              <a:rPr sz="2200" b="1">
                <a:solidFill>
                  <a:srgbClr val="7ED957"/>
                </a:solidFill>
                <a:latin typeface="Calibri"/>
              </a:rPr>
              <a:t>Ferramentas</a:t>
            </a:r>
          </a:p>
          <a:p>
            <a:pPr algn="l">
              <a:spcAft>
                <a:spcPts val="6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Conectores (Drive, Gmail, Agenda), pastas do computador, extensão ◆.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903969" y="1965960"/>
            <a:ext cx="2480310" cy="2743200"/>
          </a:xfrm>
          <a:prstGeom prst="roundRect">
            <a:avLst>
              <a:gd name="adj" fmla="val 6000"/>
            </a:avLst>
          </a:prstGeom>
          <a:solidFill>
            <a:srgbClr val="0B2236"/>
          </a:solidFill>
          <a:ln w="15875">
            <a:solidFill>
              <a:srgbClr val="1B4A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64592" bIns="164592"/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29ABE2"/>
                </a:solidFill>
                <a:latin typeface="Calibri"/>
              </a:rPr>
              <a:t>4</a:t>
            </a:r>
          </a:p>
          <a:p>
            <a:pPr algn="l">
              <a:spcAft>
                <a:spcPts val="600"/>
              </a:spcAft>
            </a:pPr>
            <a:r>
              <a:rPr sz="2200" b="1">
                <a:solidFill>
                  <a:srgbClr val="7ED957"/>
                </a:solidFill>
                <a:latin typeface="Calibri"/>
              </a:rPr>
              <a:t>Ciclo</a:t>
            </a:r>
          </a:p>
          <a:p>
            <a:pPr algn="l">
              <a:spcAft>
                <a:spcPts val="6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Encadeia etapas e para nos pontos de aprovação configurados.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892040"/>
            <a:ext cx="10607040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F2A541"/>
                </a:solidFill>
                <a:latin typeface="Calibri"/>
              </a:rPr>
              <a:t>Atenção: </a:t>
            </a:r>
            <a:r>
              <a:rPr sz="2000" b="0">
                <a:solidFill>
                  <a:srgbClr val="FFFFFF"/>
                </a:solidFill>
                <a:latin typeface="Calibri"/>
              </a:rPr>
              <a:t>projeto, skill, conector e extensão não existem em todo agente. Confira o que o seu plano e a política da escola permitem.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77240" y="411480"/>
            <a:ext cx="969264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3600" b="1">
                <a:solidFill>
                  <a:srgbClr val="7ED957"/>
                </a:solidFill>
                <a:latin typeface="Calibri"/>
              </a:rPr>
              <a:t>Um agente, um processo: </a:t>
            </a:r>
            <a:r>
              <a:rPr sz="3600" b="1">
                <a:solidFill>
                  <a:srgbClr val="FFFFFF"/>
                </a:solidFill>
                <a:latin typeface="Calibri"/>
              </a:rPr>
              <a:t>conferência de planos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097280"/>
            <a:ext cx="987552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>
                <a:solidFill>
                  <a:srgbClr val="7ED957"/>
                </a:solidFill>
                <a:latin typeface="Calibri"/>
              </a:rPr>
              <a:t>Simulação: 12 planos de aula entregues na sexta-feira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72768"/>
            <a:ext cx="4206240" cy="25603"/>
          </a:xfrm>
          <a:prstGeom prst="rect">
            <a:avLst/>
          </a:prstGeom>
          <a:solidFill>
            <a:srgbClr val="7ED9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4946903" y="1531620"/>
            <a:ext cx="128016" cy="128016"/>
          </a:xfrm>
          <a:prstGeom prst="ellipse">
            <a:avLst/>
          </a:prstGeom>
          <a:solidFill>
            <a:srgbClr val="7ED9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920240" y="5760000"/>
            <a:ext cx="9509760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7ED957"/>
                </a:solidFill>
                <a:latin typeface="Calibri"/>
              </a:rPr>
              <a:t>Ferramentas: </a:t>
            </a:r>
            <a:r>
              <a:rPr sz="2000" b="0">
                <a:solidFill>
                  <a:srgbClr val="FFFFFF"/>
                </a:solidFill>
                <a:latin typeface="Calibri"/>
              </a:rPr>
              <a:t>Drive para ler, checklist nas instruções, Gmail só para rascunhos. Use planos fictícios ou autorizados.</a:t>
            </a:r>
          </a:p>
        </p:txBody>
      </p:sp>
      <p:pic>
        <p:nvPicPr>
          <p:cNvPr id="40" name="Esteira: agente lê, confere, sintetiza e redige rascunho; a coordenação decide e envia. Exemplo fictício de checklist, plano e devolutiva." descr="Esteira: agente lê, confere, sintetiza e redige rascunho; a coordenação decide e envia. Exemplo fictício de checklist, plano e devolutiva."/>
          <p:cNvPicPr>
            <a:picLocks noChangeAspect="1"/>
          </p:cNvPicPr>
          <p:nvPr/>
        </p:nvPicPr>
        <p:blipFill>
          <a:blip r:embed="rIdVis"/>
          <a:stretch>
            <a:fillRect/>
          </a:stretch>
        </p:blipFill>
        <p:spPr>
          <a:xfrm>
            <a:off x="777240" y="1680000"/>
            <a:ext cx="10370370" cy="4000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77240" y="411480"/>
            <a:ext cx="969264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3600" b="1">
                <a:solidFill>
                  <a:srgbClr val="7ED957"/>
                </a:solidFill>
                <a:latin typeface="Calibri"/>
              </a:rPr>
              <a:t>Vários agentes: </a:t>
            </a:r>
            <a:r>
              <a:rPr sz="3600" b="1">
                <a:solidFill>
                  <a:srgbClr val="FFFFFF"/>
                </a:solidFill>
                <a:latin typeface="Calibri"/>
              </a:rPr>
              <a:t>comunicação da semana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097280"/>
            <a:ext cx="987552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>
                <a:solidFill>
                  <a:srgbClr val="7ED957"/>
                </a:solidFill>
                <a:latin typeface="Calibri"/>
              </a:rPr>
              <a:t>Simulação: cada agente faz uma parte e passa adiante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72768"/>
            <a:ext cx="4206240" cy="25603"/>
          </a:xfrm>
          <a:prstGeom prst="rect">
            <a:avLst/>
          </a:prstGeom>
          <a:solidFill>
            <a:srgbClr val="7ED9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4946903" y="1531620"/>
            <a:ext cx="128016" cy="128016"/>
          </a:xfrm>
          <a:prstGeom prst="ellipse">
            <a:avLst/>
          </a:prstGeom>
          <a:solidFill>
            <a:srgbClr val="7ED9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4846320"/>
            <a:ext cx="10607040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F2A541"/>
                </a:solidFill>
                <a:latin typeface="Calibri"/>
              </a:rPr>
              <a:t>Regra: </a:t>
            </a:r>
            <a:r>
              <a:rPr sz="2000" b="0">
                <a:solidFill>
                  <a:srgbClr val="FFFFFF"/>
                </a:solidFill>
                <a:latin typeface="Calibri"/>
              </a:rPr>
              <a:t>cada agente tem uma tarefa e um limite. Agendar já é ação externa: a pessoa revisa, aprova e agenda ou publica.</a:t>
            </a:r>
          </a:p>
        </p:txBody>
      </p:sp>
      <p:pic>
        <p:nvPicPr>
          <p:cNvPr id="40" name="Esteira: agentes levantam, escrevem, adaptam e preparam rascunhos; a direção aprova e uma pessoa agenda ou publica." descr="Esteira: agentes levantam, escrevem, adaptam e preparam rascunhos; a direção aprova e uma pessoa agenda ou publica."/>
          <p:cNvPicPr>
            <a:picLocks noChangeAspect="1"/>
          </p:cNvPicPr>
          <p:nvPr/>
        </p:nvPicPr>
        <p:blipFill>
          <a:blip r:embed="rIdVis"/>
          <a:stretch>
            <a:fillRect/>
          </a:stretch>
        </p:blipFill>
        <p:spPr>
          <a:xfrm>
            <a:off x="777240" y="1800000"/>
            <a:ext cx="10607040" cy="2727524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77240" y="411480"/>
            <a:ext cx="969264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3600" b="1">
                <a:solidFill>
                  <a:srgbClr val="7ED957"/>
                </a:solidFill>
                <a:latin typeface="Calibri"/>
              </a:rPr>
              <a:t>Quando há dado pessoal: </a:t>
            </a:r>
            <a:r>
              <a:rPr sz="3600" b="1">
                <a:solidFill>
                  <a:srgbClr val="FFFFFF"/>
                </a:solidFill>
                <a:latin typeface="Calibri"/>
              </a:rPr>
              <a:t>triagem da secretaria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097280"/>
            <a:ext cx="987552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>
                <a:solidFill>
                  <a:srgbClr val="7ED957"/>
                </a:solidFill>
                <a:latin typeface="Calibri"/>
              </a:rPr>
              <a:t>Simulação: a regra vem antes do processamento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72768"/>
            <a:ext cx="4206240" cy="25603"/>
          </a:xfrm>
          <a:prstGeom prst="rect">
            <a:avLst/>
          </a:prstGeom>
          <a:solidFill>
            <a:srgbClr val="7ED9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4946903" y="1531620"/>
            <a:ext cx="128016" cy="128016"/>
          </a:xfrm>
          <a:prstGeom prst="ellipse">
            <a:avLst/>
          </a:prstGeom>
          <a:solidFill>
            <a:srgbClr val="7ED9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920240" y="5640000"/>
            <a:ext cx="9509760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F2A541"/>
                </a:solidFill>
                <a:latin typeface="Calibri"/>
              </a:rPr>
              <a:t>Regra anterior: </a:t>
            </a:r>
            <a:r>
              <a:rPr sz="2000" b="0">
                <a:solidFill>
                  <a:srgbClr val="FFFFFF"/>
                </a:solidFill>
                <a:latin typeface="Calibri"/>
              </a:rPr>
              <a:t>mensagens com dados sensíveis não entram no fluxo automatizado. Triagem só em ambiente contratado, com dados mínimos e regras documentadas.</a:t>
            </a:r>
          </a:p>
        </p:txBody>
      </p:sp>
      <p:pic>
        <p:nvPicPr>
          <p:cNvPr id="40" name="Bifurcação: regra prévia separa saúde, conflito e finanças para canal próprio; dúvidas administrativas seguem para rascunho e revisão da secretaria." descr="Bifurcação: regra prévia separa saúde, conflito e finanças para canal próprio; dúvidas administrativas seguem para rascunho e revisão da secretaria."/>
          <p:cNvPicPr>
            <a:picLocks noChangeAspect="1"/>
          </p:cNvPicPr>
          <p:nvPr/>
        </p:nvPicPr>
        <p:blipFill>
          <a:blip r:embed="rIdVis"/>
          <a:stretch>
            <a:fillRect/>
          </a:stretch>
        </p:blipFill>
        <p:spPr>
          <a:xfrm>
            <a:off x="777240" y="1680000"/>
            <a:ext cx="10607040" cy="3788228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77240" y="411480"/>
            <a:ext cx="969264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3600" b="1">
                <a:solidFill>
                  <a:srgbClr val="7ED957"/>
                </a:solidFill>
                <a:latin typeface="Calibri"/>
              </a:rPr>
              <a:t>A receita de um agente </a:t>
            </a:r>
            <a:r>
              <a:rPr sz="3600" b="1">
                <a:solidFill>
                  <a:srgbClr val="FFFFFF"/>
                </a:solidFill>
                <a:latin typeface="Calibri"/>
              </a:rPr>
              <a:t>em seis campos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097280"/>
            <a:ext cx="987552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>
                <a:solidFill>
                  <a:srgbClr val="7ED957"/>
                </a:solidFill>
                <a:latin typeface="Calibri"/>
              </a:rPr>
              <a:t>Vale para qualquer ferramenta e é a base dos prompts de todos os roteiros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72768"/>
            <a:ext cx="4206240" cy="25603"/>
          </a:xfrm>
          <a:prstGeom prst="rect">
            <a:avLst/>
          </a:prstGeom>
          <a:solidFill>
            <a:srgbClr val="7ED9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4946903" y="1531620"/>
            <a:ext cx="128016" cy="128016"/>
          </a:xfrm>
          <a:prstGeom prst="ellipse">
            <a:avLst/>
          </a:prstGeom>
          <a:solidFill>
            <a:srgbClr val="7ED9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920240"/>
            <a:ext cx="6126480" cy="35661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1">
                <a:solidFill>
                  <a:srgbClr val="7ED957"/>
                </a:solidFill>
                <a:latin typeface="Calibri"/>
              </a:rPr>
              <a:t>Papel: </a:t>
            </a:r>
            <a:r>
              <a:rPr sz="2400" b="0">
                <a:solidFill>
                  <a:srgbClr val="FFFFFF"/>
                </a:solidFill>
                <a:latin typeface="Calibri"/>
              </a:rPr>
              <a:t>quem a IA é neste trabalho</a:t>
            </a:r>
          </a:p>
          <a:p>
            <a:pPr algn="l">
              <a:spcAft>
                <a:spcPts val="600"/>
              </a:spcAft>
            </a:pPr>
            <a:r>
              <a:rPr sz="2400" b="1">
                <a:solidFill>
                  <a:srgbClr val="7ED957"/>
                </a:solidFill>
                <a:latin typeface="Calibri"/>
              </a:rPr>
              <a:t>Fontes: </a:t>
            </a:r>
            <a:r>
              <a:rPr sz="2400" b="0">
                <a:solidFill>
                  <a:srgbClr val="FFFFFF"/>
                </a:solidFill>
                <a:latin typeface="Calibri"/>
              </a:rPr>
              <a:t>o que pode e o que não pode usar</a:t>
            </a:r>
          </a:p>
          <a:p>
            <a:pPr algn="l">
              <a:spcAft>
                <a:spcPts val="600"/>
              </a:spcAft>
            </a:pPr>
            <a:r>
              <a:rPr sz="2400" b="1">
                <a:solidFill>
                  <a:srgbClr val="7ED957"/>
                </a:solidFill>
                <a:latin typeface="Calibri"/>
              </a:rPr>
              <a:t>Tarefa: </a:t>
            </a:r>
            <a:r>
              <a:rPr sz="2400" b="0">
                <a:solidFill>
                  <a:srgbClr val="FFFFFF"/>
                </a:solidFill>
                <a:latin typeface="Calibri"/>
              </a:rPr>
              <a:t>o que exatamente deve fazer</a:t>
            </a:r>
          </a:p>
          <a:p>
            <a:pPr algn="l">
              <a:spcAft>
                <a:spcPts val="600"/>
              </a:spcAft>
            </a:pPr>
            <a:r>
              <a:rPr sz="2400" b="1">
                <a:solidFill>
                  <a:srgbClr val="7ED957"/>
                </a:solidFill>
                <a:latin typeface="Calibri"/>
              </a:rPr>
              <a:t>Critérios: </a:t>
            </a:r>
            <a:r>
              <a:rPr sz="2400" b="0">
                <a:solidFill>
                  <a:srgbClr val="FFFFFF"/>
                </a:solidFill>
                <a:latin typeface="Calibri"/>
              </a:rPr>
              <a:t>o que é qualidade aqui</a:t>
            </a:r>
          </a:p>
          <a:p>
            <a:pPr algn="l">
              <a:spcAft>
                <a:spcPts val="600"/>
              </a:spcAft>
            </a:pPr>
            <a:r>
              <a:rPr sz="2400" b="1">
                <a:solidFill>
                  <a:srgbClr val="7ED957"/>
                </a:solidFill>
                <a:latin typeface="Calibri"/>
              </a:rPr>
              <a:t>Formato: </a:t>
            </a:r>
            <a:r>
              <a:rPr sz="2400" b="0">
                <a:solidFill>
                  <a:srgbClr val="FFFFFF"/>
                </a:solidFill>
                <a:latin typeface="Calibri"/>
              </a:rPr>
              <a:t>em que formato entregar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086600" y="1920240"/>
            <a:ext cx="4251960" cy="3383280"/>
          </a:xfrm>
          <a:prstGeom prst="roundRect">
            <a:avLst>
              <a:gd name="adj" fmla="val 6000"/>
            </a:avLst>
          </a:prstGeom>
          <a:solidFill>
            <a:srgbClr val="0B2236"/>
          </a:solidFill>
          <a:ln w="15875">
            <a:solidFill>
              <a:srgbClr val="1B4A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64592" bIns="164592"/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29ABE2"/>
                </a:solidFill>
                <a:latin typeface="Calibri"/>
              </a:rPr>
              <a:t>O SEXTO CAMPO: LIMITES</a:t>
            </a:r>
          </a:p>
          <a:p>
            <a:pPr algn="l">
              <a:spcAft>
                <a:spcPts val="600"/>
              </a:spcAft>
            </a:pPr>
            <a:r>
              <a:rPr sz="2200" b="1">
                <a:solidFill>
                  <a:srgbClr val="7ED957"/>
                </a:solidFill>
                <a:latin typeface="Calibri"/>
              </a:rPr>
              <a:t>Onde a máquina para e uma pessoa assume</a:t>
            </a:r>
          </a:p>
          <a:p>
            <a:pPr algn="l">
              <a:spcAft>
                <a:spcPts val="6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É o campo que quase ninguém escreve, e o que transforma uso improvisado em processo.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77240" y="411480"/>
            <a:ext cx="969264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3600" b="1">
                <a:solidFill>
                  <a:srgbClr val="7ED957"/>
                </a:solidFill>
                <a:latin typeface="Calibri"/>
              </a:rPr>
              <a:t>Não existe a melhor IA. </a:t>
            </a:r>
            <a:r>
              <a:rPr sz="3600" b="1">
                <a:solidFill>
                  <a:srgbClr val="FFFFFF"/>
                </a:solidFill>
                <a:latin typeface="Calibri"/>
              </a:rPr>
              <a:t>Existe a mais adequada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097280"/>
            <a:ext cx="987552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>
                <a:solidFill>
                  <a:srgbClr val="7ED957"/>
                </a:solidFill>
                <a:latin typeface="Calibri"/>
              </a:rPr>
              <a:t>Escolha por critérios, não pela marca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72768"/>
            <a:ext cx="4206240" cy="25603"/>
          </a:xfrm>
          <a:prstGeom prst="rect">
            <a:avLst/>
          </a:prstGeom>
          <a:solidFill>
            <a:srgbClr val="7ED9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4946903" y="1531620"/>
            <a:ext cx="128016" cy="128016"/>
          </a:xfrm>
          <a:prstGeom prst="ellipse">
            <a:avLst/>
          </a:prstGeom>
          <a:solidFill>
            <a:srgbClr val="7ED9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965960"/>
            <a:ext cx="2480310" cy="2286000"/>
          </a:xfrm>
          <a:prstGeom prst="roundRect">
            <a:avLst>
              <a:gd name="adj" fmla="val 6000"/>
            </a:avLst>
          </a:prstGeom>
          <a:solidFill>
            <a:srgbClr val="0B2236"/>
          </a:solidFill>
          <a:ln w="15875">
            <a:solidFill>
              <a:srgbClr val="1B4A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64592" bIns="164592"/>
          <a:lstStyle/>
          <a:p>
            <a:pPr algn="l">
              <a:spcAft>
                <a:spcPts val="600"/>
              </a:spcAft>
            </a:pPr>
            <a:r>
              <a:rPr sz="2400" b="1">
                <a:solidFill>
                  <a:srgbClr val="7ED957"/>
                </a:solidFill>
                <a:latin typeface="Calibri"/>
              </a:rPr>
              <a:t>Tarefa</a:t>
            </a:r>
          </a:p>
          <a:p>
            <a:pPr algn="l">
              <a:spcAft>
                <a:spcPts val="6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O resultado serve? Teste a mesma tarefa em duas ferramentas.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86150" y="1965960"/>
            <a:ext cx="2480310" cy="2286000"/>
          </a:xfrm>
          <a:prstGeom prst="roundRect">
            <a:avLst>
              <a:gd name="adj" fmla="val 6000"/>
            </a:avLst>
          </a:prstGeom>
          <a:solidFill>
            <a:srgbClr val="0B2236"/>
          </a:solidFill>
          <a:ln w="15875">
            <a:solidFill>
              <a:srgbClr val="1B4A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64592" bIns="164592"/>
          <a:lstStyle/>
          <a:p>
            <a:pPr algn="l">
              <a:spcAft>
                <a:spcPts val="600"/>
              </a:spcAft>
            </a:pPr>
            <a:r>
              <a:rPr sz="2400" b="1">
                <a:solidFill>
                  <a:srgbClr val="7ED957"/>
                </a:solidFill>
                <a:latin typeface="Calibri"/>
              </a:rPr>
              <a:t>Fonte</a:t>
            </a:r>
          </a:p>
          <a:p>
            <a:pPr algn="l">
              <a:spcAft>
                <a:spcPts val="6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Mostra de onde veio a informação? Dá para conferir?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5059" y="1965960"/>
            <a:ext cx="2480310" cy="2286000"/>
          </a:xfrm>
          <a:prstGeom prst="roundRect">
            <a:avLst>
              <a:gd name="adj" fmla="val 6000"/>
            </a:avLst>
          </a:prstGeom>
          <a:solidFill>
            <a:srgbClr val="0B2236"/>
          </a:solidFill>
          <a:ln w="15875">
            <a:solidFill>
              <a:srgbClr val="1B4A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64592" bIns="164592"/>
          <a:lstStyle/>
          <a:p>
            <a:pPr algn="l">
              <a:spcAft>
                <a:spcPts val="600"/>
              </a:spcAft>
            </a:pPr>
            <a:r>
              <a:rPr sz="2400" b="1">
                <a:solidFill>
                  <a:srgbClr val="7ED957"/>
                </a:solidFill>
                <a:latin typeface="Calibri"/>
              </a:rPr>
              <a:t>Dados</a:t>
            </a:r>
          </a:p>
          <a:p>
            <a:pPr algn="l">
              <a:spcAft>
                <a:spcPts val="6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Conta institucional, contrato, uso para treinamento, integrações aprovadas.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903969" y="1965960"/>
            <a:ext cx="2480310" cy="2286000"/>
          </a:xfrm>
          <a:prstGeom prst="roundRect">
            <a:avLst>
              <a:gd name="adj" fmla="val 6000"/>
            </a:avLst>
          </a:prstGeom>
          <a:solidFill>
            <a:srgbClr val="0B2236"/>
          </a:solidFill>
          <a:ln w="15875">
            <a:solidFill>
              <a:srgbClr val="1B4A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64592" bIns="164592"/>
          <a:lstStyle/>
          <a:p>
            <a:pPr algn="l">
              <a:spcAft>
                <a:spcPts val="600"/>
              </a:spcAft>
            </a:pPr>
            <a:r>
              <a:rPr sz="2400" b="1">
                <a:solidFill>
                  <a:srgbClr val="7ED957"/>
                </a:solidFill>
                <a:latin typeface="Calibri"/>
              </a:rPr>
              <a:t>Custo e saída</a:t>
            </a:r>
          </a:p>
          <a:p>
            <a:pPr algn="l">
              <a:spcAft>
                <a:spcPts val="6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Preço, limites, exportação dos dados e acessibilidade.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434840"/>
            <a:ext cx="10607040" cy="10972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7ED957"/>
                </a:solidFill>
                <a:latin typeface="Calibri"/>
              </a:rPr>
              <a:t>Recursos mudam a cada versão: </a:t>
            </a:r>
            <a:r>
              <a:rPr sz="2200" b="0">
                <a:solidFill>
                  <a:srgbClr val="FFFFFF"/>
                </a:solidFill>
                <a:latin typeface="Calibri"/>
              </a:rPr>
              <a:t>teste a sua tarefa e consulte o quadro comparativo (apoio). Quem confere depois?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77240" y="411480"/>
            <a:ext cx="969264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3600" b="1">
                <a:solidFill>
                  <a:srgbClr val="7ED957"/>
                </a:solidFill>
                <a:latin typeface="Calibri"/>
              </a:rPr>
              <a:t>De onde vem </a:t>
            </a:r>
            <a:r>
              <a:rPr sz="3600" b="1">
                <a:solidFill>
                  <a:srgbClr val="FFFFFF"/>
                </a:solidFill>
                <a:latin typeface="Calibri"/>
              </a:rPr>
              <a:t>a resposta?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097280"/>
            <a:ext cx="987552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>
                <a:solidFill>
                  <a:srgbClr val="7ED957"/>
                </a:solidFill>
                <a:latin typeface="Calibri"/>
              </a:rPr>
              <a:t>Treinamento geral ou documentos que você escolheu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72768"/>
            <a:ext cx="4206240" cy="25603"/>
          </a:xfrm>
          <a:prstGeom prst="rect">
            <a:avLst/>
          </a:prstGeom>
          <a:solidFill>
            <a:srgbClr val="7ED9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4946903" y="1531620"/>
            <a:ext cx="128016" cy="128016"/>
          </a:xfrm>
          <a:prstGeom prst="ellipse">
            <a:avLst/>
          </a:prstGeom>
          <a:solidFill>
            <a:srgbClr val="7ED9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5000000"/>
            <a:ext cx="10607040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7ED957"/>
                </a:solidFill>
                <a:latin typeface="Calibri"/>
              </a:rPr>
              <a:t>Citação rastreável ajuda, </a:t>
            </a:r>
            <a:r>
              <a:rPr sz="2000" b="0">
                <a:solidFill>
                  <a:srgbClr val="FFFFFF"/>
                </a:solidFill>
                <a:latin typeface="Calibri"/>
              </a:rPr>
              <a:t>mas fonte incompleta ou antiga ainda gera resposta inadequada. Mais documentos não significam resposta melhor.</a:t>
            </a:r>
          </a:p>
        </p:txBody>
      </p:sp>
      <p:pic>
        <p:nvPicPr>
          <p:cNvPr id="40" name="Exemplo: resposta que cita os trechos [1] e [2] da LGPD, com alerta de fonte incompleta." descr="Exemplo: resposta que cita os trechos [1] e [2] da LGPD, com alerta de fonte incompleta."/>
          <p:cNvPicPr>
            <a:picLocks noChangeAspect="1"/>
          </p:cNvPicPr>
          <p:nvPr/>
        </p:nvPicPr>
        <p:blipFill>
          <a:blip r:embed="rIdVis"/>
          <a:stretch>
            <a:fillRect/>
          </a:stretch>
        </p:blipFill>
        <p:spPr>
          <a:xfrm>
            <a:off x="777240" y="1740000"/>
            <a:ext cx="10607040" cy="3030582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77240" y="411480"/>
            <a:ext cx="969264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3600" b="1">
                <a:solidFill>
                  <a:srgbClr val="7ED957"/>
                </a:solidFill>
                <a:latin typeface="Calibri"/>
              </a:rPr>
              <a:t>Aberto, fechado, </a:t>
            </a:r>
            <a:r>
              <a:rPr sz="3600" b="1">
                <a:solidFill>
                  <a:srgbClr val="FFFFFF"/>
                </a:solidFill>
                <a:latin typeface="Calibri"/>
              </a:rPr>
              <a:t>nuvem ou local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097280"/>
            <a:ext cx="987552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>
                <a:solidFill>
                  <a:srgbClr val="7ED957"/>
                </a:solidFill>
                <a:latin typeface="Calibri"/>
              </a:rPr>
              <a:t>Muda o que a escola pode contratar e proteger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72768"/>
            <a:ext cx="4206240" cy="25603"/>
          </a:xfrm>
          <a:prstGeom prst="rect">
            <a:avLst/>
          </a:prstGeom>
          <a:solidFill>
            <a:srgbClr val="7ED9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4946903" y="1531620"/>
            <a:ext cx="128016" cy="128016"/>
          </a:xfrm>
          <a:prstGeom prst="ellipse">
            <a:avLst/>
          </a:prstGeom>
          <a:solidFill>
            <a:srgbClr val="7ED9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965960"/>
            <a:ext cx="3383279" cy="2743200"/>
          </a:xfrm>
          <a:prstGeom prst="roundRect">
            <a:avLst>
              <a:gd name="adj" fmla="val 6000"/>
            </a:avLst>
          </a:prstGeom>
          <a:solidFill>
            <a:srgbClr val="0B2236"/>
          </a:solidFill>
          <a:ln w="15875">
            <a:solidFill>
              <a:srgbClr val="1B4A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64592" bIns="164592"/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29ABE2"/>
                </a:solidFill>
                <a:latin typeface="Calibri"/>
              </a:rPr>
              <a:t>NUVEM</a:t>
            </a:r>
          </a:p>
          <a:p>
            <a:pPr algn="l">
              <a:spcAft>
                <a:spcPts val="600"/>
              </a:spcAft>
            </a:pPr>
            <a:r>
              <a:rPr sz="2400" b="1">
                <a:solidFill>
                  <a:srgbClr val="7ED957"/>
                </a:solidFill>
                <a:latin typeface="Calibri"/>
              </a:rPr>
              <a:t>Fechado</a:t>
            </a:r>
          </a:p>
          <a:p>
            <a:pPr algn="l">
              <a:spcAft>
                <a:spcPts val="6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Você usa, não vê dentro. Preço e termos mudam.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965960"/>
            <a:ext cx="3383279" cy="2743200"/>
          </a:xfrm>
          <a:prstGeom prst="roundRect">
            <a:avLst>
              <a:gd name="adj" fmla="val 6000"/>
            </a:avLst>
          </a:prstGeom>
          <a:solidFill>
            <a:srgbClr val="0B2236"/>
          </a:solidFill>
          <a:ln w="15875">
            <a:solidFill>
              <a:srgbClr val="1B4A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64592" bIns="164592"/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29ABE2"/>
                </a:solidFill>
                <a:latin typeface="Calibri"/>
              </a:rPr>
              <a:t>CUIDADO COM A PALAVRA</a:t>
            </a:r>
          </a:p>
          <a:p>
            <a:pPr algn="l">
              <a:spcAft>
                <a:spcPts val="600"/>
              </a:spcAft>
            </a:pPr>
            <a:r>
              <a:rPr sz="2400" b="1">
                <a:solidFill>
                  <a:srgbClr val="7ED957"/>
                </a:solidFill>
                <a:latin typeface="Calibri"/>
              </a:rPr>
              <a:t>Aberto</a:t>
            </a:r>
          </a:p>
          <a:p>
            <a:pPr algn="l">
              <a:spcAft>
                <a:spcPts val="6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O rótulo varia: confira a licença e o acesso a pesos, código e dados de treino.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01000" y="1965960"/>
            <a:ext cx="3383279" cy="2743200"/>
          </a:xfrm>
          <a:prstGeom prst="roundRect">
            <a:avLst>
              <a:gd name="adj" fmla="val 6000"/>
            </a:avLst>
          </a:prstGeom>
          <a:solidFill>
            <a:srgbClr val="0B2236"/>
          </a:solidFill>
          <a:ln w="15875">
            <a:solidFill>
              <a:srgbClr val="1B4A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64592" bIns="164592"/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29ABE2"/>
                </a:solidFill>
                <a:latin typeface="Calibri"/>
              </a:rPr>
              <a:t>PROCESSAMENTO</a:t>
            </a:r>
          </a:p>
          <a:p>
            <a:pPr algn="l">
              <a:spcAft>
                <a:spcPts val="600"/>
              </a:spcAft>
            </a:pPr>
            <a:r>
              <a:rPr sz="2400" b="1">
                <a:solidFill>
                  <a:srgbClr val="7ED957"/>
                </a:solidFill>
                <a:latin typeface="Calibri"/>
              </a:rPr>
              <a:t>Local</a:t>
            </a:r>
          </a:p>
          <a:p>
            <a:pPr algn="l">
              <a:spcAft>
                <a:spcPts val="6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Diz onde o modelo roda. Verifique rede, telemetria, logs e backups.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846320"/>
            <a:ext cx="1060704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7ED957"/>
                </a:solidFill>
                <a:latin typeface="Calibri"/>
              </a:rPr>
              <a:t>Sinal de dependência: </a:t>
            </a:r>
            <a:r>
              <a:rPr sz="2000" b="0">
                <a:solidFill>
                  <a:srgbClr val="FFFFFF"/>
                </a:solidFill>
                <a:latin typeface="Calibri"/>
              </a:rPr>
              <a:t>a ferramenta não deixa escolher o modelo nem exportar os dados.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20240" y="5394960"/>
            <a:ext cx="950976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C9D6E0"/>
                </a:solidFill>
                <a:latin typeface="Calibri"/>
              </a:rPr>
              <a:t>Fonte: Código Não Binário.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77240" y="411480"/>
            <a:ext cx="969264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3600" b="1">
                <a:solidFill>
                  <a:srgbClr val="7ED957"/>
                </a:solidFill>
                <a:latin typeface="Calibri"/>
              </a:rPr>
              <a:t>O gestor como </a:t>
            </a:r>
            <a:r>
              <a:rPr sz="3600" b="1">
                <a:solidFill>
                  <a:srgbClr val="FFFFFF"/>
                </a:solidFill>
                <a:latin typeface="Calibri"/>
              </a:rPr>
              <a:t>curador de dados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097280"/>
            <a:ext cx="987552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>
                <a:solidFill>
                  <a:srgbClr val="7ED957"/>
                </a:solidFill>
                <a:latin typeface="Calibri"/>
              </a:rPr>
              <a:t>Cultura de dados começa antes da ferramenta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72768"/>
            <a:ext cx="4206240" cy="25603"/>
          </a:xfrm>
          <a:prstGeom prst="rect">
            <a:avLst/>
          </a:prstGeom>
          <a:solidFill>
            <a:srgbClr val="7ED9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4946903" y="1531620"/>
            <a:ext cx="128016" cy="128016"/>
          </a:xfrm>
          <a:prstGeom prst="ellipse">
            <a:avLst/>
          </a:prstGeom>
          <a:solidFill>
            <a:srgbClr val="7ED9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965960"/>
            <a:ext cx="6035040" cy="34747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0">
                <a:solidFill>
                  <a:srgbClr val="7ED957"/>
                </a:solidFill>
                <a:latin typeface="Calibri"/>
              </a:rPr>
              <a:t>●  </a:t>
            </a:r>
            <a:r>
              <a:rPr sz="2400" b="0">
                <a:solidFill>
                  <a:srgbClr val="FFFFFF"/>
                </a:solidFill>
                <a:latin typeface="Calibri"/>
              </a:rPr>
              <a:t>Finalidade explícita para cada uso</a:t>
            </a:r>
          </a:p>
          <a:p>
            <a:pPr algn="l">
              <a:spcAft>
                <a:spcPts val="600"/>
              </a:spcAft>
            </a:pPr>
            <a:r>
              <a:rPr sz="2400" b="0">
                <a:solidFill>
                  <a:srgbClr val="7ED957"/>
                </a:solidFill>
                <a:latin typeface="Calibri"/>
              </a:rPr>
              <a:t>●  </a:t>
            </a:r>
            <a:r>
              <a:rPr sz="2400" b="0">
                <a:solidFill>
                  <a:srgbClr val="FFFFFF"/>
                </a:solidFill>
                <a:latin typeface="Calibri"/>
              </a:rPr>
              <a:t>Só o mínimo de dados necessário</a:t>
            </a:r>
          </a:p>
          <a:p>
            <a:pPr algn="l">
              <a:spcAft>
                <a:spcPts val="600"/>
              </a:spcAft>
            </a:pPr>
            <a:r>
              <a:rPr sz="2400" b="0">
                <a:solidFill>
                  <a:srgbClr val="7ED957"/>
                </a:solidFill>
                <a:latin typeface="Calibri"/>
              </a:rPr>
              <a:t>●  </a:t>
            </a:r>
            <a:r>
              <a:rPr sz="2400" b="0">
                <a:solidFill>
                  <a:srgbClr val="FFFFFF"/>
                </a:solidFill>
                <a:latin typeface="Calibri"/>
              </a:rPr>
              <a:t>Prazo para guardar e para eliminar</a:t>
            </a:r>
          </a:p>
          <a:p>
            <a:pPr algn="l">
              <a:spcAft>
                <a:spcPts val="600"/>
              </a:spcAft>
            </a:pPr>
            <a:r>
              <a:rPr sz="2400" b="0">
                <a:solidFill>
                  <a:srgbClr val="7ED957"/>
                </a:solidFill>
                <a:latin typeface="Calibri"/>
              </a:rPr>
              <a:t>●  </a:t>
            </a:r>
            <a:r>
              <a:rPr sz="2400" b="0">
                <a:solidFill>
                  <a:srgbClr val="FFFFFF"/>
                </a:solidFill>
                <a:latin typeface="Calibri"/>
              </a:rPr>
              <a:t>Dado público, interno e pessoal separados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086600" y="1965960"/>
            <a:ext cx="4251960" cy="3291840"/>
          </a:xfrm>
          <a:prstGeom prst="roundRect">
            <a:avLst>
              <a:gd name="adj" fmla="val 6000"/>
            </a:avLst>
          </a:prstGeom>
          <a:solidFill>
            <a:srgbClr val="0B2236"/>
          </a:solidFill>
          <a:ln w="15875">
            <a:solidFill>
              <a:srgbClr val="1B4A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64592" bIns="164592"/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29ABE2"/>
                </a:solidFill>
                <a:latin typeface="Calibri"/>
              </a:rPr>
              <a:t>LGPD</a:t>
            </a:r>
          </a:p>
          <a:p>
            <a:pPr algn="l">
              <a:spcAft>
                <a:spcPts val="600"/>
              </a:spcAft>
            </a:pPr>
            <a:r>
              <a:rPr sz="2400" b="1">
                <a:solidFill>
                  <a:srgbClr val="7ED957"/>
                </a:solidFill>
                <a:latin typeface="Calibri"/>
              </a:rPr>
              <a:t>Papéis definidos</a:t>
            </a:r>
          </a:p>
          <a:p>
            <a:pPr algn="l">
              <a:spcAft>
                <a:spcPts val="6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 escola define finalidade, base legal, acesso e prazo. O papel do fornecedor depende do tratamento. Crianças: melhor interesse.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20240" y="5806440"/>
            <a:ext cx="950976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C9D6E0"/>
                </a:solidFill>
                <a:latin typeface="Calibri"/>
                <a:hlinkClick r:id="rIdMEC"/>
              </a:rPr>
              <a:t>Referencial do MEC (2026), seção 3.2.5; LGPD (Lei nº 13.709/2018), arts. 5º, 6º e 14.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77240" y="411480"/>
            <a:ext cx="969264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3600" b="1">
                <a:solidFill>
                  <a:srgbClr val="7ED957"/>
                </a:solidFill>
                <a:latin typeface="Calibri"/>
              </a:rPr>
              <a:t>Diagnóstico </a:t>
            </a:r>
            <a:r>
              <a:rPr sz="3600" b="1">
                <a:solidFill>
                  <a:srgbClr val="FFFFFF"/>
                </a:solidFill>
                <a:latin typeface="Calibri"/>
              </a:rPr>
              <a:t>antes da ferramenta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097280"/>
            <a:ext cx="987552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>
                <a:solidFill>
                  <a:srgbClr val="7ED957"/>
                </a:solidFill>
                <a:latin typeface="Calibri"/>
              </a:rPr>
              <a:t>Um ciclo simples para decidir com dados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72768"/>
            <a:ext cx="4206240" cy="25603"/>
          </a:xfrm>
          <a:prstGeom prst="rect">
            <a:avLst/>
          </a:prstGeom>
          <a:solidFill>
            <a:srgbClr val="7ED9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4946903" y="1531620"/>
            <a:ext cx="128016" cy="128016"/>
          </a:xfrm>
          <a:prstGeom prst="ellipse">
            <a:avLst/>
          </a:prstGeom>
          <a:solidFill>
            <a:srgbClr val="7ED9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03120"/>
            <a:ext cx="2480310" cy="2468880"/>
          </a:xfrm>
          <a:prstGeom prst="roundRect">
            <a:avLst>
              <a:gd name="adj" fmla="val 6000"/>
            </a:avLst>
          </a:prstGeom>
          <a:solidFill>
            <a:srgbClr val="0B2236"/>
          </a:solidFill>
          <a:ln w="15875">
            <a:solidFill>
              <a:srgbClr val="1B4A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64592" bIns="164592"/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7ED957"/>
                </a:solidFill>
                <a:latin typeface="Calibri"/>
              </a:rPr>
              <a:t>1. Problema</a:t>
            </a:r>
          </a:p>
          <a:p>
            <a:pPr algn="l">
              <a:spcAft>
                <a:spcPts val="6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Qual processo está mal resolvido?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86150" y="2103120"/>
            <a:ext cx="2480310" cy="2468880"/>
          </a:xfrm>
          <a:prstGeom prst="roundRect">
            <a:avLst>
              <a:gd name="adj" fmla="val 6000"/>
            </a:avLst>
          </a:prstGeom>
          <a:solidFill>
            <a:srgbClr val="0B2236"/>
          </a:solidFill>
          <a:ln w="15875">
            <a:solidFill>
              <a:srgbClr val="1B4A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64592" bIns="164592"/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7ED957"/>
                </a:solidFill>
                <a:latin typeface="Calibri"/>
              </a:rPr>
              <a:t>2. Alternativas</a:t>
            </a:r>
          </a:p>
          <a:p>
            <a:pPr algn="l">
              <a:spcAft>
                <a:spcPts val="6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Há solução sem tecnologia?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5059" y="2103120"/>
            <a:ext cx="2480310" cy="2468880"/>
          </a:xfrm>
          <a:prstGeom prst="roundRect">
            <a:avLst>
              <a:gd name="adj" fmla="val 6000"/>
            </a:avLst>
          </a:prstGeom>
          <a:solidFill>
            <a:srgbClr val="0B2236"/>
          </a:solidFill>
          <a:ln w="15875">
            <a:solidFill>
              <a:srgbClr val="1B4A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64592" bIns="164592"/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7ED957"/>
                </a:solidFill>
                <a:latin typeface="Calibri"/>
              </a:rPr>
              <a:t>3. Evidência</a:t>
            </a:r>
          </a:p>
          <a:p>
            <a:pPr algn="l">
              <a:spcAft>
                <a:spcPts val="6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O que mostra que funciona?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903969" y="2103120"/>
            <a:ext cx="2480310" cy="2468880"/>
          </a:xfrm>
          <a:prstGeom prst="roundRect">
            <a:avLst>
              <a:gd name="adj" fmla="val 6000"/>
            </a:avLst>
          </a:prstGeom>
          <a:solidFill>
            <a:srgbClr val="0B2236"/>
          </a:solidFill>
          <a:ln w="15875">
            <a:solidFill>
              <a:srgbClr val="1B4A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64592" bIns="164592"/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7ED957"/>
                </a:solidFill>
                <a:latin typeface="Calibri"/>
              </a:rPr>
              <a:t>4. Piloto</a:t>
            </a:r>
          </a:p>
          <a:p>
            <a:pPr algn="l">
              <a:spcAft>
                <a:spcPts val="6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Com prazo e quem confere.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20240" y="5806440"/>
            <a:ext cx="950976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C9D6E0"/>
                </a:solidFill>
                <a:latin typeface="Calibri"/>
                <a:hlinkClick r:id="rIdMEC"/>
              </a:rPr>
              <a:t>Referencial do MEC (2026), seções 9.1 e 9.2.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77240" y="411480"/>
            <a:ext cx="969264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3600" b="1">
                <a:solidFill>
                  <a:srgbClr val="7ED957"/>
                </a:solidFill>
                <a:latin typeface="Calibri"/>
              </a:rPr>
              <a:t>Acerto não é </a:t>
            </a:r>
            <a:r>
              <a:rPr sz="3600" b="1">
                <a:solidFill>
                  <a:srgbClr val="FFFFFF"/>
                </a:solidFill>
                <a:latin typeface="Calibri"/>
              </a:rPr>
              <a:t>aprendizagem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097280"/>
            <a:ext cx="987552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>
                <a:solidFill>
                  <a:srgbClr val="7ED957"/>
                </a:solidFill>
                <a:latin typeface="Calibri"/>
              </a:rPr>
              <a:t>Um caso para discutir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72768"/>
            <a:ext cx="4206240" cy="25603"/>
          </a:xfrm>
          <a:prstGeom prst="rect">
            <a:avLst/>
          </a:prstGeom>
          <a:solidFill>
            <a:srgbClr val="7ED9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4946903" y="1531620"/>
            <a:ext cx="128016" cy="128016"/>
          </a:xfrm>
          <a:prstGeom prst="ellipse">
            <a:avLst/>
          </a:prstGeom>
          <a:solidFill>
            <a:srgbClr val="7ED9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7"/>
          <p:cNvSpPr txBox="1"/>
          <p:nvPr/>
        </p:nvSpPr>
        <p:spPr>
          <a:xfrm>
            <a:off x="777240" y="1828800"/>
            <a:ext cx="5300000" cy="3900000"/>
          </a:xfrm>
          <a:prstGeom prst="rect">
            <a:avLst/>
          </a:prstGeom>
          <a:noFill/>
        </p:spPr>
        <p:txBody>
          <a:bodyPr wrap="square" anchor="t" lIns="45720" rIns="45720">
            <a:normAutofit/>
          </a:bodyPr>
          <a:lstStyle/>
          <a:p>
            <a:pPr algn="l">
              <a:spcAft>
                <a:spcPts val="800"/>
              </a:spcAft>
              <a:buNone/>
            </a:pPr>
            <a:r>
              <a:rPr lang="pt-BR" sz="2000" b="1">
                <a:solidFill>
                  <a:srgbClr val="7ED957"/>
                </a:solidFill>
                <a:latin typeface="Calibri"/>
              </a:rPr>
              <a:t>O que aconteceu</a:t>
            </a:r>
          </a:p>
          <a:p>
            <a:pPr algn="l" marL="285750" indent="-285750">
              <a:spcAft>
                <a:spcPts val="800"/>
              </a:spcAft>
              <a:buFont typeface="Arial"/>
              <a:buChar char="•"/>
            </a:pPr>
            <a:r>
              <a:rPr lang="pt-BR" sz="1700" b="0">
                <a:solidFill>
                  <a:srgbClr val="FFFFFF"/>
                </a:solidFill>
                <a:latin typeface="Calibri"/>
              </a:rPr>
              <a:t>Em maio de 2023, três escolas públicas de Newark (EUA) começaram a testar o Khanmigo, tutor de IA da Khan Academy, gratuito durante o piloto.</a:t>
            </a:r>
          </a:p>
          <a:p>
            <a:pPr algn="l" marL="285750" indent="-285750">
              <a:spcAft>
                <a:spcPts val="800"/>
              </a:spcAft>
              <a:buFont typeface="Arial"/>
              <a:buChar char="•"/>
            </a:pPr>
            <a:r>
              <a:rPr lang="pt-BR" sz="1700" b="0">
                <a:solidFill>
                  <a:srgbClr val="FFFFFF"/>
                </a:solidFill>
                <a:latin typeface="Calibri"/>
              </a:rPr>
              <a:t>Numa turma de 3º ano, a professora propôs: “Qual é a fração de consoantes na palavra </a:t>
            </a:r>
            <a:r>
              <a:rPr lang="pt-BR" sz="1700" b="1">
                <a:solidFill>
                  <a:srgbClr val="FFFFFF"/>
                </a:solidFill>
                <a:latin typeface="Calibri"/>
              </a:rPr>
              <a:t>matemático</a:t>
            </a:r>
            <a:r>
              <a:rPr lang="pt-BR" sz="1700" b="0">
                <a:solidFill>
                  <a:srgbClr val="FFFFFF"/>
                </a:solidFill>
                <a:latin typeface="Calibri"/>
              </a:rPr>
              <a:t>?”</a:t>
            </a:r>
          </a:p>
          <a:p>
            <a:pPr algn="l" marL="285750" indent="-285750">
              <a:spcAft>
                <a:spcPts val="800"/>
              </a:spcAft>
              <a:buFont typeface="Arial"/>
              <a:buChar char="•"/>
            </a:pPr>
            <a:r>
              <a:rPr lang="pt-BR" sz="1700" b="0">
                <a:solidFill>
                  <a:srgbClr val="FFFFFF"/>
                </a:solidFill>
                <a:latin typeface="Calibri"/>
              </a:rPr>
              <a:t>O tutor entregou a resposta pronta, 5/10 (m-a-t-e-m-á-t-i-c-o: 10 letras, 5 consoantes), sem pedir o raciocínio.</a:t>
            </a:r>
          </a:p>
          <a:p>
            <a:pPr algn="l" marL="285750" indent="-285750">
              <a:spcAft>
                <a:spcPts val="800"/>
              </a:spcAft>
              <a:buFont typeface="Arial"/>
              <a:buChar char="•"/>
            </a:pPr>
            <a:r>
              <a:rPr lang="pt-BR" sz="1700" b="0">
                <a:solidFill>
                  <a:srgbClr val="C9D6E0"/>
                </a:solidFill>
                <a:latin typeface="Calibri"/>
              </a:rPr>
              <a:t>No modo professor, a mesma pergunta recebeu uma resposta errada: 6/10.</a:t>
            </a:r>
          </a:p>
        </p:txBody>
      </p:sp>
      <p:pic>
        <p:nvPicPr>
          <p:cNvPr id="8" name="Capa da matéria do R7" descr="Capa da matéria do R7 de 09/07/2023: Escola nos EUA causa polêmica ao virar cobaia e adotar inteligência artificial que dispensa professor">
            <a:hlinkClick r:id="rIdR7"/>
          </p:cNvPr>
          <p:cNvPicPr>
            <a:picLocks noChangeAspect="1"/>
          </p:cNvPicPr>
          <p:nvPr/>
        </p:nvPicPr>
        <p:blipFill>
          <a:blip r:embed="rIdR7img"/>
          <a:stretch>
            <a:fillRect/>
          </a:stretch>
        </p:blipFill>
        <p:spPr>
          <a:xfrm>
            <a:off x="6309360" y="1828800"/>
            <a:ext cx="5029200" cy="2937849"/>
          </a:xfrm>
          <a:prstGeom prst="rect">
            <a:avLst/>
          </a:prstGeom>
          <a:ln w="12700">
            <a:solidFill>
              <a:srgbClr val="29ABE2"/>
            </a:solidFill>
          </a:ln>
        </p:spPr>
      </p:pic>
      <p:sp>
        <p:nvSpPr>
          <p:cNvPr id="9" name="TextBox 9"/>
          <p:cNvSpPr txBox="1"/>
          <p:nvPr/>
        </p:nvSpPr>
        <p:spPr>
          <a:xfrm>
            <a:off x="6309360" y="4858089"/>
            <a:ext cx="5029200" cy="760000"/>
          </a:xfrm>
          <a:prstGeom prst="rect">
            <a:avLst/>
          </a:prstGeom>
          <a:noFill/>
        </p:spPr>
        <p:txBody>
          <a:bodyPr wrap="square" anchor="t" lIns="45720" rIns="45720">
            <a:normAutofit/>
          </a:bodyPr>
          <a:lstStyle/>
          <a:p>
            <a:pPr algn="l">
              <a:spcAft>
                <a:spcPts val="200"/>
              </a:spcAft>
              <a:buNone/>
            </a:pPr>
            <a:r>
              <a:rPr lang="pt-BR" sz="1400" b="0">
                <a:solidFill>
                  <a:srgbClr val="C9D6E0"/>
                </a:solidFill>
                <a:latin typeface="Calibri"/>
              </a:rPr>
              <a:t>Leia a matéria completa: </a:t>
            </a:r>
            <a:r>
              <a:rPr lang="pt-BR" sz="1400" b="1">
                <a:solidFill>
                  <a:srgbClr val="29ABE2"/>
                </a:solidFill>
                <a:latin typeface="Calibri"/>
                <a:hlinkClick r:id="rIdR7"/>
              </a:rPr>
              <a:t>“Escola nos EUA causa polêmica ao virar cobaia…” (R7, 09/07/2023)</a:t>
            </a:r>
          </a:p>
          <a:p>
            <a:pPr algn="l">
              <a:spcAft>
                <a:spcPts val="800"/>
              </a:spcAft>
              <a:buNone/>
            </a:pPr>
            <a:r>
              <a:rPr lang="pt-BR" sz="1400" b="0">
                <a:solidFill>
                  <a:srgbClr val="C9D6E0"/>
                </a:solidFill>
                <a:latin typeface="Calibri"/>
              </a:rPr>
              <a:t>Tradução de reportagem do The New York Times, 26/06/2023.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88720" y="1737360"/>
            <a:ext cx="9601200" cy="12801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A IA não decide. Ela prepara a decisão.</a:t>
            </a:r>
          </a:p>
        </p:txBody>
      </p:sp>
      <p:sp>
        <p:nvSpPr>
          <p:cNvPr id="4" name="Rectangle 3"/>
          <p:cNvSpPr/>
          <p:nvPr/>
        </p:nvSpPr>
        <p:spPr>
          <a:xfrm>
            <a:off x="1188720" y="3154680"/>
            <a:ext cx="3291840" cy="25603"/>
          </a:xfrm>
          <a:prstGeom prst="rect">
            <a:avLst/>
          </a:prstGeom>
          <a:solidFill>
            <a:srgbClr val="7ED9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4443984" y="3113532"/>
            <a:ext cx="128016" cy="128016"/>
          </a:xfrm>
          <a:prstGeom prst="ellipse">
            <a:avLst/>
          </a:prstGeom>
          <a:solidFill>
            <a:srgbClr val="7ED9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88720" y="3383280"/>
            <a:ext cx="9601200" cy="12801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0">
                <a:solidFill>
                  <a:srgbClr val="7ED957"/>
                </a:solidFill>
                <a:latin typeface="Calibri"/>
              </a:rPr>
              <a:t>Supervisão humana significativa é princípio inegociável. Onde ela será obrigatória na sua escola?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4800600"/>
            <a:ext cx="731520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 seguir: ética, inclusão e matriz de riscos</a:t>
            </a:r>
          </a:p>
        </p:txBody>
      </p:sp>
      <p:pic>
        <p:nvPicPr>
          <p:cNvPr id="41" name="Sol: assinatura visual" descr="Sol: assinatura visual"/>
          <p:cNvPicPr>
            <a:picLocks noChangeAspect="1"/>
          </p:cNvPicPr>
          <p:nvPr/>
        </p:nvPicPr>
        <p:blipFill>
          <a:blip r:embed="rIdSol"/>
          <a:stretch>
            <a:fillRect/>
          </a:stretch>
        </p:blipFill>
        <p:spPr>
          <a:xfrm>
            <a:off x="1188720" y="1100000"/>
            <a:ext cx="520000" cy="520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77240" y="411480"/>
            <a:ext cx="969264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3600" b="1">
                <a:solidFill>
                  <a:srgbClr val="7ED957"/>
                </a:solidFill>
                <a:latin typeface="Calibri"/>
              </a:rPr>
              <a:t>O percurso </a:t>
            </a:r>
            <a:r>
              <a:rPr sz="3600" b="1">
                <a:solidFill>
                  <a:srgbClr val="FFFFFF"/>
                </a:solidFill>
                <a:latin typeface="Calibri"/>
              </a:rPr>
              <a:t>do dia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097280"/>
            <a:ext cx="987552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>
                <a:solidFill>
                  <a:srgbClr val="7ED957"/>
                </a:solidFill>
                <a:latin typeface="Calibri"/>
              </a:rPr>
              <a:t>Da compreensão à decisão institucional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72768"/>
            <a:ext cx="4206240" cy="25603"/>
          </a:xfrm>
          <a:prstGeom prst="rect">
            <a:avLst/>
          </a:prstGeom>
          <a:solidFill>
            <a:srgbClr val="7ED9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4946903" y="1531620"/>
            <a:ext cx="128016" cy="128016"/>
          </a:xfrm>
          <a:prstGeom prst="ellipse">
            <a:avLst/>
          </a:prstGeom>
          <a:solidFill>
            <a:srgbClr val="7ED9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03120"/>
            <a:ext cx="2480310" cy="2468880"/>
          </a:xfrm>
          <a:prstGeom prst="roundRect">
            <a:avLst>
              <a:gd name="adj" fmla="val 6000"/>
            </a:avLst>
          </a:prstGeom>
          <a:solidFill>
            <a:srgbClr val="0B2236"/>
          </a:solidFill>
          <a:ln w="15875">
            <a:solidFill>
              <a:srgbClr val="1B4A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64592" bIns="164592"/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7ED957"/>
                </a:solidFill>
                <a:latin typeface="Calibri"/>
              </a:rPr>
              <a:t>1. Compreender</a:t>
            </a:r>
          </a:p>
          <a:p>
            <a:pPr algn="l">
              <a:spcAft>
                <a:spcPts val="6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Fundamentos, ética, inclusão e matriz de riscos.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86150" y="2103120"/>
            <a:ext cx="2480310" cy="2468880"/>
          </a:xfrm>
          <a:prstGeom prst="roundRect">
            <a:avLst>
              <a:gd name="adj" fmla="val 6000"/>
            </a:avLst>
          </a:prstGeom>
          <a:solidFill>
            <a:srgbClr val="0B2236"/>
          </a:solidFill>
          <a:ln w="15875">
            <a:solidFill>
              <a:srgbClr val="1B4A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64592" bIns="164592"/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7ED957"/>
                </a:solidFill>
                <a:latin typeface="Calibri"/>
              </a:rPr>
              <a:t>2. Organizar</a:t>
            </a:r>
          </a:p>
          <a:p>
            <a:pPr algn="l">
              <a:spcAft>
                <a:spcPts val="6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Documento da escola: identidade, tom de voz e normas.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5059" y="2103120"/>
            <a:ext cx="2480310" cy="2468880"/>
          </a:xfrm>
          <a:prstGeom prst="roundRect">
            <a:avLst>
              <a:gd name="adj" fmla="val 6000"/>
            </a:avLst>
          </a:prstGeom>
          <a:solidFill>
            <a:srgbClr val="0B2236"/>
          </a:solidFill>
          <a:ln w="15875">
            <a:solidFill>
              <a:srgbClr val="1B4A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64592" bIns="164592"/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7ED957"/>
                </a:solidFill>
                <a:latin typeface="Calibri"/>
              </a:rPr>
              <a:t>3. Testar</a:t>
            </a:r>
          </a:p>
          <a:p>
            <a:pPr algn="l">
              <a:spcAft>
                <a:spcPts val="6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Práticas 1, 2 e 3: prompts, assistentes e revisores.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903969" y="2103120"/>
            <a:ext cx="2480310" cy="2468880"/>
          </a:xfrm>
          <a:prstGeom prst="roundRect">
            <a:avLst>
              <a:gd name="adj" fmla="val 6000"/>
            </a:avLst>
          </a:prstGeom>
          <a:solidFill>
            <a:srgbClr val="0B2236"/>
          </a:solidFill>
          <a:ln w="15875">
            <a:solidFill>
              <a:srgbClr val="1B4A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64592" bIns="164592"/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7ED957"/>
                </a:solidFill>
                <a:latin typeface="Calibri"/>
              </a:rPr>
              <a:t>4. Decidir</a:t>
            </a:r>
          </a:p>
          <a:p>
            <a:pPr algn="l">
              <a:spcAft>
                <a:spcPts val="6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Laboratório, governança e plano de 30 dias.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20240" y="5806440"/>
            <a:ext cx="950976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C9D6E0"/>
                </a:solidFill>
                <a:latin typeface="Calibri"/>
              </a:rPr>
              <a:t>Em cada prática: escolha um roteiro e faça a sequência completa.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77240" y="411480"/>
            <a:ext cx="969264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3600" b="1">
                <a:solidFill>
                  <a:srgbClr val="7ED957"/>
                </a:solidFill>
                <a:latin typeface="Calibri"/>
              </a:rPr>
              <a:t>Acerto não é </a:t>
            </a:r>
            <a:r>
              <a:rPr sz="3600" b="1">
                <a:solidFill>
                  <a:srgbClr val="FFFFFF"/>
                </a:solidFill>
                <a:latin typeface="Calibri"/>
              </a:rPr>
              <a:t>aprendizagem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097280"/>
            <a:ext cx="987552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>
                <a:solidFill>
                  <a:srgbClr val="7ED957"/>
                </a:solidFill>
                <a:latin typeface="Calibri"/>
              </a:rPr>
              <a:t>Newark: qual foi o problema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72768"/>
            <a:ext cx="4206240" cy="25603"/>
          </a:xfrm>
          <a:prstGeom prst="rect">
            <a:avLst/>
          </a:prstGeom>
          <a:solidFill>
            <a:srgbClr val="7ED9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4946903" y="1531620"/>
            <a:ext cx="128016" cy="128016"/>
          </a:xfrm>
          <a:prstGeom prst="ellipse">
            <a:avLst/>
          </a:prstGeom>
          <a:solidFill>
            <a:srgbClr val="7ED9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7"/>
          <p:cNvSpPr txBox="1"/>
          <p:nvPr/>
        </p:nvSpPr>
        <p:spPr>
          <a:xfrm>
            <a:off x="777240" y="1828800"/>
            <a:ext cx="5400000" cy="4000000"/>
          </a:xfrm>
          <a:prstGeom prst="rect">
            <a:avLst/>
          </a:prstGeom>
          <a:noFill/>
        </p:spPr>
        <p:txBody>
          <a:bodyPr wrap="square" anchor="t" lIns="45720" rIns="45720">
            <a:normAutofit/>
          </a:bodyPr>
          <a:lstStyle/>
          <a:p>
            <a:pPr algn="l" marL="285750" indent="-285750">
              <a:spcAft>
                <a:spcPts val="800"/>
              </a:spcAft>
              <a:buFont typeface="Arial"/>
              <a:buChar char="•"/>
            </a:pPr>
            <a:r>
              <a:rPr lang="pt-BR" sz="1600" b="1">
                <a:solidFill>
                  <a:srgbClr val="FFFFFF"/>
                </a:solidFill>
                <a:latin typeface="Calibri"/>
              </a:rPr>
              <a:t>Resposta certa não é boa tutoria. </a:t>
            </a:r>
            <a:r>
              <a:rPr lang="pt-BR" sz="1600" b="0">
                <a:solidFill>
                  <a:srgbClr val="FFFFFF"/>
                </a:solidFill>
                <a:latin typeface="Calibri"/>
              </a:rPr>
              <a:t>O 5/10 estava correto, mas veio sem pedir o raciocínio. O caso mostra uma tensão pedagógica; não prova se houve ou não aprendizagem.</a:t>
            </a:r>
          </a:p>
          <a:p>
            <a:pPr algn="l" marL="285750" indent="-285750">
              <a:spcAft>
                <a:spcPts val="800"/>
              </a:spcAft>
              <a:buFont typeface="Arial"/>
              <a:buChar char="•"/>
            </a:pPr>
            <a:r>
              <a:rPr lang="pt-BR" sz="1600" b="0">
                <a:solidFill>
                  <a:srgbClr val="FFFFFF"/>
                </a:solidFill>
                <a:latin typeface="Calibri"/>
              </a:rPr>
              <a:t>O distrito disse que sua maior preocupação era o raciocínio ficar a cargo da ferramenta, e não dos alunos.</a:t>
            </a:r>
          </a:p>
          <a:p>
            <a:pPr algn="l" marL="285750" indent="-285750">
              <a:spcAft>
                <a:spcPts val="800"/>
              </a:spcAft>
              <a:buFont typeface="Arial"/>
              <a:buChar char="•"/>
            </a:pPr>
            <a:r>
              <a:rPr lang="pt-BR" sz="1600" b="0">
                <a:solidFill>
                  <a:srgbClr val="FFFFFF"/>
                </a:solidFill>
                <a:latin typeface="Calibri"/>
              </a:rPr>
              <a:t>A Khan Academy reconheceu que o tutor “ajudou demais, depressa demais” e disse ter corrigido o fluxo do estudante. Depois, um repórter ainda recebeu a resposta pronta e, no modo professor, um erro (6/10).</a:t>
            </a:r>
          </a:p>
          <a:p>
            <a:pPr algn="l" marL="285750" indent="-285750">
              <a:spcAft>
                <a:spcPts val="800"/>
              </a:spcAft>
              <a:buFont typeface="Arial"/>
              <a:buChar char="•"/>
            </a:pPr>
            <a:r>
              <a:rPr lang="pt-BR" sz="1600" b="0">
                <a:solidFill>
                  <a:srgbClr val="C9D6E0"/>
                </a:solidFill>
                <a:latin typeface="Calibri"/>
              </a:rPr>
              <a:t>Na turma de 6º ano da mesma escola, o professor usou o tutor como apoio e ganhou tempo para os alunos com mais dificuldade. Mesma ferramenta, outro resultado.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920240" y="5760720"/>
            <a:ext cx="9509760" cy="640080"/>
          </a:xfrm>
          <a:prstGeom prst="rect">
            <a:avLst/>
          </a:prstGeom>
          <a:noFill/>
        </p:spPr>
        <p:txBody>
          <a:bodyPr wrap="square" anchor="t" lIns="45720" rIns="45720">
            <a:normAutofit/>
          </a:bodyPr>
          <a:lstStyle/>
          <a:p>
            <a:pPr algn="l">
              <a:spcAft>
                <a:spcPts val="800"/>
              </a:spcAft>
              <a:buNone/>
            </a:pPr>
            <a:r>
              <a:rPr lang="pt-BR" sz="1300" b="0">
                <a:solidFill>
                  <a:srgbClr val="C9D6E0"/>
                </a:solidFill>
                <a:latin typeface="Calibri"/>
              </a:rPr>
              <a:t>Outro teste (CNN, ago. 2023): o mesmo tutor rejeitou uma divisão correta e elogiou uma multiplicação errada. Fonte do caso: The New York Times, 26/06/2023 (tradução do R7, 09/07/2023).</a:t>
            </a:r>
          </a:p>
        </p:txBody>
      </p:sp>
      <p:pic>
        <p:nvPicPr>
          <p:cNvPr id="40" name="m-a-t-e-m-á-t-i-c-o: 10 letras, 5 consoantes, 5/10. Resposta correta versus bom processo de tutoria; três perguntas para discutir." descr="m-a-t-e-m-á-t-i-c-o: 10 letras, 5 consoantes, 5/10. Resposta correta versus bom processo de tutoria; três perguntas para discutir."/>
          <p:cNvPicPr>
            <a:picLocks noChangeAspect="1"/>
          </p:cNvPicPr>
          <p:nvPr/>
        </p:nvPicPr>
        <p:blipFill>
          <a:blip r:embed="rIdVis"/>
          <a:stretch>
            <a:fillRect/>
          </a:stretch>
        </p:blipFill>
        <p:spPr>
          <a:xfrm>
            <a:off x="6400800" y="1737360"/>
            <a:ext cx="4937760" cy="3202871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77240" y="411480"/>
            <a:ext cx="969264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3600" b="1">
                <a:solidFill>
                  <a:srgbClr val="7ED957"/>
                </a:solidFill>
                <a:latin typeface="Calibri"/>
              </a:rPr>
              <a:t>Um bom prompt </a:t>
            </a:r>
            <a:r>
              <a:rPr sz="3600" b="1">
                <a:solidFill>
                  <a:srgbClr val="FFFFFF"/>
                </a:solidFill>
                <a:latin typeface="Calibri"/>
              </a:rPr>
              <a:t>diz o que você quer obter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097280"/>
            <a:ext cx="987552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>
                <a:solidFill>
                  <a:srgbClr val="7ED957"/>
                </a:solidFill>
                <a:latin typeface="Calibri"/>
              </a:rPr>
              <a:t>Os seis campos, mais dois cuidados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72768"/>
            <a:ext cx="4206240" cy="25603"/>
          </a:xfrm>
          <a:prstGeom prst="rect">
            <a:avLst/>
          </a:prstGeom>
          <a:solidFill>
            <a:srgbClr val="7ED9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4946903" y="1531620"/>
            <a:ext cx="128016" cy="128016"/>
          </a:xfrm>
          <a:prstGeom prst="ellipse">
            <a:avLst/>
          </a:prstGeom>
          <a:solidFill>
            <a:srgbClr val="7ED9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Caixa 7"/>
          <p:cNvSpPr txBox="1"/>
          <p:nvPr/>
        </p:nvSpPr>
        <p:spPr>
          <a:xfrm>
            <a:off x="777240" y="1737360"/>
            <a:ext cx="5300000" cy="3900000"/>
          </a:xfrm>
          <a:prstGeom prst="rect">
            <a:avLst/>
          </a:prstGeom>
          <a:noFill/>
        </p:spPr>
        <p:txBody>
          <a:bodyPr wrap="square" anchor="t" lIns="45720" rIns="45720">
            <a:normAutofit/>
          </a:bodyPr>
          <a:lstStyle/>
          <a:p>
            <a:pPr algn="l">
              <a:spcAft>
                <a:spcPts val="700"/>
              </a:spcAft>
              <a:buNone/>
            </a:pPr>
            <a:r>
              <a:rPr lang="pt-BR" sz="2000" b="1">
                <a:solidFill>
                  <a:srgbClr val="7ED957"/>
                </a:solidFill>
                <a:latin typeface="Calibri"/>
              </a:rPr>
              <a:t>Antes dos seis campos</a:t>
            </a:r>
          </a:p>
          <a:p>
            <a:pPr algn="l" marL="285750" indent="-285750">
              <a:spcAft>
                <a:spcPts val="700"/>
              </a:spcAft>
              <a:buFont typeface="Arial"/>
              <a:buChar char="•"/>
            </a:pPr>
            <a:r>
              <a:rPr lang="pt-BR" sz="1700" b="1">
                <a:solidFill>
                  <a:srgbClr val="FFFFFF"/>
                </a:solidFill>
                <a:latin typeface="Calibri"/>
              </a:rPr>
              <a:t>Diga o que quer obter e para quê: </a:t>
            </a:r>
            <a:r>
              <a:rPr lang="pt-BR" sz="1700" b="0">
                <a:solidFill>
                  <a:srgbClr val="FFFFFF"/>
                </a:solidFill>
                <a:latin typeface="Calibri"/>
              </a:rPr>
              <a:t>“um convite às famílias para a palestra de 26/11”.</a:t>
            </a:r>
          </a:p>
          <a:p>
            <a:pPr algn="l" marL="285750" indent="-285750">
              <a:spcAft>
                <a:spcPts val="700"/>
              </a:spcAft>
              <a:buFont typeface="Arial"/>
              <a:buChar char="•"/>
            </a:pPr>
            <a:r>
              <a:rPr lang="pt-BR" sz="1700" b="1">
                <a:solidFill>
                  <a:srgbClr val="FFFFFF"/>
                </a:solidFill>
                <a:latin typeface="Calibri"/>
              </a:rPr>
              <a:t>Diga o que anexou, pelo nome: </a:t>
            </a:r>
            <a:r>
              <a:rPr lang="pt-BR" sz="1700" b="0">
                <a:solidFill>
                  <a:srgbClr val="FFFFFF"/>
                </a:solidFill>
                <a:latin typeface="Calibri"/>
              </a:rPr>
              <a:t>“use só o tom de voz e as normas anexados”.</a:t>
            </a:r>
          </a:p>
          <a:p>
            <a:pPr algn="l" marL="285750" indent="-285750">
              <a:spcAft>
                <a:spcPts val="700"/>
              </a:spcAft>
              <a:buFont typeface="Arial"/>
              <a:buChar char="•"/>
            </a:pPr>
            <a:r>
              <a:rPr lang="pt-BR" sz="1700" b="1">
                <a:solidFill>
                  <a:srgbClr val="FFFFFF"/>
                </a:solidFill>
                <a:latin typeface="Calibri"/>
              </a:rPr>
              <a:t>Peça o formato: </a:t>
            </a:r>
            <a:r>
              <a:rPr lang="pt-BR" sz="1700" b="0">
                <a:solidFill>
                  <a:srgbClr val="FFFFFF"/>
                </a:solidFill>
                <a:latin typeface="Calibri"/>
              </a:rPr>
              <a:t>tabela, tópicos, até 600 caracteres.</a:t>
            </a:r>
          </a:p>
          <a:p>
            <a:pPr algn="l" marL="285750" indent="-285750">
              <a:spcAft>
                <a:spcPts val="700"/>
              </a:spcAft>
              <a:buFont typeface="Arial"/>
              <a:buChar char="•"/>
            </a:pPr>
            <a:r>
              <a:rPr lang="pt-BR" sz="1700" b="1">
                <a:solidFill>
                  <a:srgbClr val="FFFFFF"/>
                </a:solidFill>
                <a:latin typeface="Calibri"/>
              </a:rPr>
              <a:t>Ajuste uma coisa por vez </a:t>
            </a:r>
            <a:r>
              <a:rPr lang="pt-BR" sz="1700" b="0">
                <a:solidFill>
                  <a:srgbClr val="FFFFFF"/>
                </a:solidFill>
                <a:latin typeface="Calibri"/>
              </a:rPr>
              <a:t>e diga o que manter.</a:t>
            </a:r>
          </a:p>
        </p:txBody>
      </p:sp>
      <p:sp>
        <p:nvSpPr>
          <p:cNvPr id="8" name="Caixa 8"/>
          <p:cNvSpPr txBox="1"/>
          <p:nvPr/>
        </p:nvSpPr>
        <p:spPr>
          <a:xfrm>
            <a:off x="6400800" y="1737360"/>
            <a:ext cx="4937760" cy="3200400"/>
          </a:xfrm>
          <a:prstGeom prst="roundRect">
            <a:avLst/>
          </a:prstGeom>
          <a:solidFill>
            <a:srgbClr val="0F2E45"/>
          </a:solidFill>
          <a:ln w="15875">
            <a:solidFill>
              <a:srgbClr val="F2A541"/>
            </a:solidFill>
          </a:ln>
        </p:spPr>
        <p:txBody>
          <a:bodyPr wrap="square" anchor="t" lIns="137160" rIns="137160" tIns="109728" bIns="91440">
            <a:normAutofit/>
          </a:bodyPr>
          <a:lstStyle/>
          <a:p>
            <a:pPr algn="l">
              <a:spcAft>
                <a:spcPts val="900"/>
              </a:spcAft>
              <a:buNone/>
            </a:pPr>
            <a:r>
              <a:rPr lang="pt-BR" sz="1400" b="1">
                <a:solidFill>
                  <a:srgbClr val="F2A541"/>
                </a:solidFill>
                <a:latin typeface="Calibri"/>
              </a:rPr>
              <a:t>UMA FRASE QUE REDUZ SUPOSIÇÕES</a:t>
            </a:r>
          </a:p>
          <a:p>
            <a:pPr algn="l">
              <a:spcAft>
                <a:spcPts val="900"/>
              </a:spcAft>
              <a:buNone/>
            </a:pPr>
            <a:r>
              <a:rPr lang="pt-BR" sz="2200" b="1">
                <a:solidFill>
                  <a:srgbClr val="FFFFFF"/>
                </a:solidFill>
                <a:latin typeface="Calibri"/>
              </a:rPr>
              <a:t>“Se faltar alguma informação importante, não invente: pergunte antes de continuar.”</a:t>
            </a:r>
          </a:p>
          <a:p>
            <a:pPr algn="l">
              <a:spcAft>
                <a:spcPts val="700"/>
              </a:spcAft>
              <a:buNone/>
            </a:pPr>
            <a:r>
              <a:rPr lang="pt-BR" sz="1500" b="0">
                <a:solidFill>
                  <a:srgbClr val="C9D6E0"/>
                </a:solidFill>
                <a:latin typeface="Calibri"/>
              </a:rPr>
              <a:t>Reduz suposições, mas não impede erros: fatos, cálculos e referências continuam precisando de conferência.</a:t>
            </a:r>
          </a:p>
        </p:txBody>
      </p:sp>
      <p:sp>
        <p:nvSpPr>
          <p:cNvPr id="9" name="Caixa 9"/>
          <p:cNvSpPr txBox="1"/>
          <p:nvPr/>
        </p:nvSpPr>
        <p:spPr>
          <a:xfrm>
            <a:off x="1920240" y="5943600"/>
            <a:ext cx="9509760" cy="420000"/>
          </a:xfrm>
          <a:prstGeom prst="rect">
            <a:avLst/>
          </a:prstGeom>
          <a:noFill/>
        </p:spPr>
        <p:txBody>
          <a:bodyPr wrap="square" anchor="t" lIns="45720" rIns="45720">
            <a:normAutofit/>
          </a:bodyPr>
          <a:lstStyle/>
          <a:p>
            <a:pPr algn="l">
              <a:spcAft>
                <a:spcPts val="700"/>
              </a:spcAft>
              <a:buNone/>
            </a:pPr>
            <a:r>
              <a:rPr lang="pt-BR" sz="1500" b="0">
                <a:solidFill>
                  <a:srgbClr val="C9D6E0"/>
                </a:solidFill>
                <a:latin typeface="Calibri"/>
              </a:rPr>
              <a:t>Orientações completas: </a:t>
            </a:r>
            <a:r>
              <a:rPr lang="pt-BR" sz="1500" b="1">
                <a:solidFill>
                  <a:srgbClr val="29ABE2"/>
                </a:solidFill>
                <a:latin typeface="Calibri"/>
                <a:hlinkClick r:id="rIdGuia"/>
              </a:rPr>
              <a:t>Guia de introdução: a tela de uma IA</a:t>
            </a:r>
            <a:r>
              <a:rPr lang="pt-BR" sz="1500" b="0">
                <a:solidFill>
                  <a:srgbClr val="C9D6E0"/>
                </a:solidFill>
                <a:latin typeface="Calibri"/>
              </a:rPr>
              <a:t> (apoio/fundamentos)</a:t>
            </a:r>
          </a:p>
        </p:txBody>
      </p:sp>
      <p:pic>
        <p:nvPicPr>
          <p:cNvPr id="41" name="Sol: ponto de decisão" descr="Sol: ponto de decisão"/>
          <p:cNvPicPr>
            <a:picLocks noChangeAspect="1"/>
          </p:cNvPicPr>
          <p:nvPr/>
        </p:nvPicPr>
        <p:blipFill>
          <a:blip r:embed="rIdSol"/>
          <a:stretch>
            <a:fillRect/>
          </a:stretch>
        </p:blipFill>
        <p:spPr>
          <a:xfrm>
            <a:off x="10818560" y="1847360"/>
            <a:ext cx="400000" cy="4000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77240" y="411480"/>
            <a:ext cx="969264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3600" b="1">
                <a:solidFill>
                  <a:srgbClr val="7ED957"/>
                </a:solidFill>
                <a:latin typeface="Calibri"/>
              </a:rPr>
              <a:t>A tela </a:t>
            </a:r>
            <a:r>
              <a:rPr sz="3600" b="1">
                <a:solidFill>
                  <a:srgbClr val="FFFFFF"/>
                </a:solidFill>
                <a:latin typeface="Calibri"/>
              </a:rPr>
              <a:t>de uma 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097280"/>
            <a:ext cx="987552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>
                <a:solidFill>
                  <a:srgbClr val="7ED957"/>
                </a:solidFill>
                <a:latin typeface="Calibri"/>
              </a:rPr>
              <a:t>O que é cada parte, em qualquer plataforma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72768"/>
            <a:ext cx="4206240" cy="25603"/>
          </a:xfrm>
          <a:prstGeom prst="rect">
            <a:avLst/>
          </a:prstGeom>
          <a:solidFill>
            <a:srgbClr val="7ED9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4946903" y="1531620"/>
            <a:ext cx="128016" cy="128016"/>
          </a:xfrm>
          <a:prstGeom prst="ellipse">
            <a:avLst/>
          </a:prstGeom>
          <a:solidFill>
            <a:srgbClr val="7ED9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Infográfico: a tela de uma IA, com 11 partes numeradas" descr="Infográfico: a tela de uma IA, com 11 partes numeradas">
            <a:hlinkClick r:id="rIdGuia"/>
          </p:cNvPr>
          <p:cNvPicPr>
            <a:picLocks noChangeAspect="1"/>
          </p:cNvPicPr>
          <p:nvPr/>
        </p:nvPicPr>
        <p:blipFill>
          <a:blip r:embed="rIdInfo"/>
          <a:stretch>
            <a:fillRect/>
          </a:stretch>
        </p:blipFill>
        <p:spPr>
          <a:xfrm>
            <a:off x="777240" y="1737360"/>
            <a:ext cx="6400800" cy="3840480"/>
          </a:xfrm>
          <a:prstGeom prst="rect">
            <a:avLst/>
          </a:prstGeom>
        </p:spPr>
      </p:pic>
      <p:sp>
        <p:nvSpPr>
          <p:cNvPr id="8" name="Caixa 8"/>
          <p:cNvSpPr txBox="1"/>
          <p:nvPr/>
        </p:nvSpPr>
        <p:spPr>
          <a:xfrm>
            <a:off x="7406640" y="1737360"/>
            <a:ext cx="3050000" cy="3840480"/>
          </a:xfrm>
          <a:prstGeom prst="rect">
            <a:avLst/>
          </a:prstGeom>
          <a:noFill/>
        </p:spPr>
        <p:txBody>
          <a:bodyPr wrap="square" anchor="t" lIns="45720" rIns="45720">
            <a:normAutofit/>
          </a:bodyPr>
          <a:lstStyle/>
          <a:p>
            <a:pPr algn="l">
              <a:spcAft>
                <a:spcPts val="700"/>
              </a:spcAft>
              <a:buNone/>
            </a:pPr>
            <a:r>
              <a:rPr lang="pt-BR" sz="1800" b="1">
                <a:solidFill>
                  <a:srgbClr val="7ED957"/>
                </a:solidFill>
                <a:latin typeface="Calibri"/>
              </a:rPr>
              <a:t>Para começar</a:t>
            </a:r>
          </a:p>
          <a:p>
            <a:pPr algn="l" marL="285750" indent="-285750">
              <a:spcAft>
                <a:spcPts val="700"/>
              </a:spcAft>
              <a:buFont typeface="Arial"/>
              <a:buChar char="•"/>
            </a:pPr>
            <a:r>
              <a:rPr lang="pt-BR" sz="1500" b="1">
                <a:solidFill>
                  <a:srgbClr val="FFFFFF"/>
                </a:solidFill>
                <a:latin typeface="Calibri"/>
              </a:rPr>
              <a:t>Projetos: </a:t>
            </a:r>
            <a:r>
              <a:rPr lang="pt-BR" sz="1500" b="0">
                <a:solidFill>
                  <a:srgbClr val="FFFFFF"/>
                </a:solidFill>
                <a:latin typeface="Calibri"/>
              </a:rPr>
              <a:t>instruções e arquivos fixos.</a:t>
            </a:r>
          </a:p>
          <a:p>
            <a:pPr algn="l" marL="285750" indent="-285750">
              <a:spcAft>
                <a:spcPts val="700"/>
              </a:spcAft>
              <a:buFont typeface="Arial"/>
              <a:buChar char="•"/>
            </a:pPr>
            <a:r>
              <a:rPr lang="pt-BR" sz="1500" b="1">
                <a:solidFill>
                  <a:srgbClr val="FFFFFF"/>
                </a:solidFill>
                <a:latin typeface="Calibri"/>
              </a:rPr>
              <a:t>+ Adicionar: </a:t>
            </a:r>
            <a:r>
              <a:rPr lang="pt-BR" sz="1500" b="0">
                <a:solidFill>
                  <a:srgbClr val="FFFFFF"/>
                </a:solidFill>
                <a:latin typeface="Calibri"/>
              </a:rPr>
              <a:t>arquivo, pasta ou projeto.</a:t>
            </a:r>
          </a:p>
          <a:p>
            <a:pPr algn="l" marL="285750" indent="-285750">
              <a:spcAft>
                <a:spcPts val="700"/>
              </a:spcAft>
              <a:buFont typeface="Arial"/>
              <a:buChar char="•"/>
            </a:pPr>
            <a:r>
              <a:rPr lang="pt-BR" sz="1500" b="1">
                <a:solidFill>
                  <a:srgbClr val="FFFFFF"/>
                </a:solidFill>
                <a:latin typeface="Calibri"/>
              </a:rPr>
              <a:t>Conectores: </a:t>
            </a:r>
            <a:r>
              <a:rPr lang="pt-BR" sz="1500" b="0">
                <a:solidFill>
                  <a:srgbClr val="FFFFFF"/>
                </a:solidFill>
                <a:latin typeface="Calibri"/>
              </a:rPr>
              <a:t>Drive, Gmail, Agenda, Canva.</a:t>
            </a:r>
          </a:p>
          <a:p>
            <a:pPr algn="l" marL="285750" indent="-285750">
              <a:spcAft>
                <a:spcPts val="700"/>
              </a:spcAft>
              <a:buFont typeface="Arial"/>
              <a:buChar char="•"/>
            </a:pPr>
            <a:r>
              <a:rPr lang="pt-BR" sz="1500" b="1">
                <a:solidFill>
                  <a:srgbClr val="FFFFFF"/>
                </a:solidFill>
                <a:latin typeface="Calibri"/>
              </a:rPr>
              <a:t>Plugins e skills: </a:t>
            </a:r>
            <a:r>
              <a:rPr lang="pt-BR" sz="1500" b="0">
                <a:solidFill>
                  <a:srgbClr val="FFFFFF"/>
                </a:solidFill>
                <a:latin typeface="Calibri"/>
              </a:rPr>
              <a:t>habilidades prontas, como a BNCC Computação.</a:t>
            </a:r>
          </a:p>
          <a:p>
            <a:pPr algn="l">
              <a:spcAft>
                <a:spcPts val="700"/>
              </a:spcAft>
              <a:buNone/>
            </a:pPr>
            <a:r>
              <a:rPr lang="pt-BR" sz="1400" b="0">
                <a:solidFill>
                  <a:srgbClr val="C9D6E0"/>
                </a:solidFill>
                <a:latin typeface="Calibri"/>
              </a:rPr>
              <a:t>Desenho genérico (out. 2026): botões, planos, modelos e modos mudam por produto e versão.</a:t>
            </a:r>
          </a:p>
        </p:txBody>
      </p:sp>
      <p:sp>
        <p:nvSpPr>
          <p:cNvPr id="9" name="Caixa 9"/>
          <p:cNvSpPr txBox="1"/>
          <p:nvPr/>
        </p:nvSpPr>
        <p:spPr>
          <a:xfrm>
            <a:off x="1920240" y="5943600"/>
            <a:ext cx="9509760" cy="420000"/>
          </a:xfrm>
          <a:prstGeom prst="rect">
            <a:avLst/>
          </a:prstGeom>
          <a:noFill/>
        </p:spPr>
        <p:txBody>
          <a:bodyPr wrap="square" anchor="t" lIns="45720" rIns="45720">
            <a:normAutofit/>
          </a:bodyPr>
          <a:lstStyle/>
          <a:p>
            <a:pPr algn="l">
              <a:spcAft>
                <a:spcPts val="700"/>
              </a:spcAft>
              <a:buNone/>
            </a:pPr>
            <a:r>
              <a:rPr lang="pt-BR" sz="1500" b="0">
                <a:solidFill>
                  <a:srgbClr val="C9D6E0"/>
                </a:solidFill>
                <a:latin typeface="Calibri"/>
              </a:rPr>
              <a:t>Orientações completas: </a:t>
            </a:r>
            <a:r>
              <a:rPr lang="pt-BR" sz="1500" b="1">
                <a:solidFill>
                  <a:srgbClr val="29ABE2"/>
                </a:solidFill>
                <a:latin typeface="Calibri"/>
                <a:hlinkClick r:id="rIdGuia"/>
              </a:rPr>
              <a:t>Guia de introdução: a tela de uma IA</a:t>
            </a:r>
            <a:r>
              <a:rPr lang="pt-BR" sz="1500" b="0">
                <a:solidFill>
                  <a:srgbClr val="C9D6E0"/>
                </a:solidFill>
                <a:latin typeface="Calibri"/>
              </a:rPr>
              <a:t> (apoio/fundamentos)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77240" y="411480"/>
            <a:ext cx="969264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3600" b="1">
                <a:solidFill>
                  <a:srgbClr val="7ED957"/>
                </a:solidFill>
                <a:latin typeface="Calibri"/>
              </a:rPr>
              <a:t>Modelo, esforço </a:t>
            </a:r>
            <a:r>
              <a:rPr sz="3600" b="1">
                <a:solidFill>
                  <a:srgbClr val="FFFFFF"/>
                </a:solidFill>
                <a:latin typeface="Calibri"/>
              </a:rPr>
              <a:t>e modo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097280"/>
            <a:ext cx="987552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>
                <a:solidFill>
                  <a:srgbClr val="7ED957"/>
                </a:solidFill>
                <a:latin typeface="Calibri"/>
              </a:rPr>
              <a:t>Três escolhas antes de enviar o pedido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72768"/>
            <a:ext cx="4206240" cy="25603"/>
          </a:xfrm>
          <a:prstGeom prst="rect">
            <a:avLst/>
          </a:prstGeom>
          <a:solidFill>
            <a:srgbClr val="7ED9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4946903" y="1531620"/>
            <a:ext cx="128016" cy="128016"/>
          </a:xfrm>
          <a:prstGeom prst="ellipse">
            <a:avLst/>
          </a:prstGeom>
          <a:solidFill>
            <a:srgbClr val="7ED9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Caixa 7"/>
          <p:cNvSpPr txBox="1"/>
          <p:nvPr/>
        </p:nvSpPr>
        <p:spPr>
          <a:xfrm>
            <a:off x="777240" y="1737360"/>
            <a:ext cx="3337560" cy="3840480"/>
          </a:xfrm>
          <a:prstGeom prst="roundRect">
            <a:avLst/>
          </a:prstGeom>
          <a:solidFill>
            <a:srgbClr val="0F2E45"/>
          </a:solidFill>
          <a:ln w="15875">
            <a:solidFill>
              <a:srgbClr val="29ABE2"/>
            </a:solidFill>
          </a:ln>
        </p:spPr>
        <p:txBody>
          <a:bodyPr wrap="square" anchor="t" lIns="137160" rIns="137160" tIns="109728" bIns="91440">
            <a:normAutofit/>
          </a:bodyPr>
          <a:lstStyle/>
          <a:p>
            <a:pPr algn="l">
              <a:spcAft>
                <a:spcPts val="300"/>
              </a:spcAft>
              <a:buNone/>
            </a:pPr>
            <a:r>
              <a:rPr lang="pt-BR" sz="1300" b="1">
                <a:solidFill>
                  <a:srgbClr val="29ABE2"/>
                </a:solidFill>
                <a:latin typeface="Calibri"/>
              </a:rPr>
              <a:t>QUEM RESPONDE</a:t>
            </a:r>
          </a:p>
          <a:p>
            <a:pPr algn="l">
              <a:spcAft>
                <a:spcPts val="600"/>
              </a:spcAft>
              <a:buNone/>
            </a:pPr>
            <a:r>
              <a:rPr lang="pt-BR" sz="2200" b="1">
                <a:solidFill>
                  <a:srgbClr val="7ED957"/>
                </a:solidFill>
                <a:latin typeface="Calibri"/>
              </a:rPr>
              <a:t>Modelo</a:t>
            </a:r>
          </a:p>
          <a:p>
            <a:pPr algn="l">
              <a:spcAft>
                <a:spcPts val="500"/>
              </a:spcAft>
              <a:buNone/>
            </a:pPr>
            <a:r>
              <a:rPr lang="pt-BR" sz="1500" b="1">
                <a:solidFill>
                  <a:srgbClr val="FFFFFF"/>
                </a:solidFill>
                <a:latin typeface="Calibri"/>
              </a:rPr>
              <a:t>Rápido: </a:t>
            </a:r>
            <a:r>
              <a:rPr lang="pt-BR" sz="1500" b="0">
                <a:solidFill>
                  <a:srgbClr val="C9D6E0"/>
                </a:solidFill>
                <a:latin typeface="Calibri"/>
              </a:rPr>
              <a:t>legendas e ajustes.</a:t>
            </a:r>
          </a:p>
          <a:p>
            <a:pPr algn="l">
              <a:spcAft>
                <a:spcPts val="500"/>
              </a:spcAft>
              <a:buNone/>
            </a:pPr>
            <a:r>
              <a:rPr lang="pt-BR" sz="1500" b="1">
                <a:solidFill>
                  <a:srgbClr val="FFFFFF"/>
                </a:solidFill>
                <a:latin typeface="Calibri"/>
              </a:rPr>
              <a:t>Equilibrado: </a:t>
            </a:r>
            <a:r>
              <a:rPr lang="pt-BR" sz="1500" b="0">
                <a:solidFill>
                  <a:srgbClr val="C9D6E0"/>
                </a:solidFill>
                <a:latin typeface="Calibri"/>
              </a:rPr>
              <a:t>comunicados e roteiros.</a:t>
            </a:r>
          </a:p>
          <a:p>
            <a:pPr algn="l">
              <a:spcAft>
                <a:spcPts val="500"/>
              </a:spcAft>
              <a:buNone/>
            </a:pPr>
            <a:r>
              <a:rPr lang="pt-BR" sz="1500" b="1">
                <a:solidFill>
                  <a:srgbClr val="FFFFFF"/>
                </a:solidFill>
                <a:latin typeface="Calibri"/>
              </a:rPr>
              <a:t>Mais capaz: </a:t>
            </a:r>
            <a:r>
              <a:rPr lang="pt-BR" sz="1500" b="0">
                <a:solidFill>
                  <a:srgbClr val="C9D6E0"/>
                </a:solidFill>
                <a:latin typeface="Calibri"/>
              </a:rPr>
              <a:t>planilhas, revisões, relatórios.</a:t>
            </a:r>
          </a:p>
        </p:txBody>
      </p:sp>
      <p:sp>
        <p:nvSpPr>
          <p:cNvPr id="8" name="Caixa 8"/>
          <p:cNvSpPr txBox="1"/>
          <p:nvPr/>
        </p:nvSpPr>
        <p:spPr>
          <a:xfrm>
            <a:off x="4343400" y="1737360"/>
            <a:ext cx="3337560" cy="3840480"/>
          </a:xfrm>
          <a:prstGeom prst="roundRect">
            <a:avLst/>
          </a:prstGeom>
          <a:solidFill>
            <a:srgbClr val="0F2E45"/>
          </a:solidFill>
          <a:ln w="15875">
            <a:solidFill>
              <a:srgbClr val="29ABE2"/>
            </a:solidFill>
          </a:ln>
        </p:spPr>
        <p:txBody>
          <a:bodyPr wrap="square" anchor="t" lIns="137160" rIns="137160" tIns="109728" bIns="91440">
            <a:normAutofit/>
          </a:bodyPr>
          <a:lstStyle/>
          <a:p>
            <a:pPr algn="l">
              <a:spcAft>
                <a:spcPts val="300"/>
              </a:spcAft>
              <a:buNone/>
            </a:pPr>
            <a:r>
              <a:rPr lang="pt-BR" sz="1300" b="1">
                <a:solidFill>
                  <a:srgbClr val="29ABE2"/>
                </a:solidFill>
                <a:latin typeface="Calibri"/>
              </a:rPr>
              <a:t>QUANTO PENSA</a:t>
            </a:r>
          </a:p>
          <a:p>
            <a:pPr algn="l">
              <a:spcAft>
                <a:spcPts val="600"/>
              </a:spcAft>
              <a:buNone/>
            </a:pPr>
            <a:r>
              <a:rPr lang="pt-BR" sz="2200" b="1">
                <a:solidFill>
                  <a:srgbClr val="7ED957"/>
                </a:solidFill>
                <a:latin typeface="Calibri"/>
              </a:rPr>
              <a:t>Esforço</a:t>
            </a:r>
          </a:p>
          <a:p>
            <a:pPr algn="l">
              <a:spcAft>
                <a:spcPts val="500"/>
              </a:spcAft>
              <a:buNone/>
            </a:pPr>
            <a:r>
              <a:rPr lang="pt-BR" sz="1500" b="1">
                <a:solidFill>
                  <a:srgbClr val="FFFFFF"/>
                </a:solidFill>
                <a:latin typeface="Calibri"/>
              </a:rPr>
              <a:t>Baixo: </a:t>
            </a:r>
            <a:r>
              <a:rPr lang="pt-BR" sz="1500" b="0">
                <a:solidFill>
                  <a:srgbClr val="C9D6E0"/>
                </a:solidFill>
                <a:latin typeface="Calibri"/>
              </a:rPr>
              <a:t>“deixe o card 3 mais curto”.</a:t>
            </a:r>
          </a:p>
          <a:p>
            <a:pPr algn="l">
              <a:spcAft>
                <a:spcPts val="500"/>
              </a:spcAft>
              <a:buNone/>
            </a:pPr>
            <a:r>
              <a:rPr lang="pt-BR" sz="1500" b="1">
                <a:solidFill>
                  <a:srgbClr val="FFFFFF"/>
                </a:solidFill>
                <a:latin typeface="Calibri"/>
              </a:rPr>
              <a:t>Médio: </a:t>
            </a:r>
            <a:r>
              <a:rPr lang="pt-BR" sz="1500" b="0">
                <a:solidFill>
                  <a:srgbClr val="C9D6E0"/>
                </a:solidFill>
                <a:latin typeface="Calibri"/>
              </a:rPr>
              <a:t>a maioria dos textos.</a:t>
            </a:r>
          </a:p>
          <a:p>
            <a:pPr algn="l">
              <a:spcAft>
                <a:spcPts val="500"/>
              </a:spcAft>
              <a:buNone/>
            </a:pPr>
            <a:r>
              <a:rPr lang="pt-BR" sz="1500" b="1">
                <a:solidFill>
                  <a:srgbClr val="FFFFFF"/>
                </a:solidFill>
                <a:latin typeface="Calibri"/>
              </a:rPr>
              <a:t>Alto: </a:t>
            </a:r>
            <a:r>
              <a:rPr lang="pt-BR" sz="1500" b="0">
                <a:solidFill>
                  <a:srgbClr val="C9D6E0"/>
                </a:solidFill>
                <a:latin typeface="Calibri"/>
              </a:rPr>
              <a:t>números, leis, checklists. Mais esforço não garante acerto: confira.</a:t>
            </a:r>
          </a:p>
        </p:txBody>
      </p:sp>
      <p:sp>
        <p:nvSpPr>
          <p:cNvPr id="9" name="Caixa 9"/>
          <p:cNvSpPr txBox="1"/>
          <p:nvPr/>
        </p:nvSpPr>
        <p:spPr>
          <a:xfrm>
            <a:off x="7909560" y="1737360"/>
            <a:ext cx="3337560" cy="3840480"/>
          </a:xfrm>
          <a:prstGeom prst="roundRect">
            <a:avLst/>
          </a:prstGeom>
          <a:solidFill>
            <a:srgbClr val="0F2E45"/>
          </a:solidFill>
          <a:ln w="15875">
            <a:solidFill>
              <a:srgbClr val="F2A541"/>
            </a:solidFill>
          </a:ln>
        </p:spPr>
        <p:txBody>
          <a:bodyPr wrap="square" anchor="t" lIns="137160" rIns="137160" tIns="109728" bIns="91440">
            <a:normAutofit/>
          </a:bodyPr>
          <a:lstStyle/>
          <a:p>
            <a:pPr algn="l">
              <a:spcAft>
                <a:spcPts val="300"/>
              </a:spcAft>
              <a:buNone/>
            </a:pPr>
            <a:r>
              <a:rPr lang="pt-BR" sz="1300" b="1">
                <a:solidFill>
                  <a:srgbClr val="F2A541"/>
                </a:solidFill>
                <a:latin typeface="Calibri"/>
              </a:rPr>
              <a:t>QUEM DECIDE</a:t>
            </a:r>
          </a:p>
          <a:p>
            <a:pPr algn="l">
              <a:spcAft>
                <a:spcPts val="600"/>
              </a:spcAft>
              <a:buNone/>
            </a:pPr>
            <a:r>
              <a:rPr lang="pt-BR" sz="2200" b="1">
                <a:solidFill>
                  <a:srgbClr val="7ED957"/>
                </a:solidFill>
                <a:latin typeface="Calibri"/>
              </a:rPr>
              <a:t>Modo</a:t>
            </a:r>
          </a:p>
          <a:p>
            <a:pPr algn="l">
              <a:spcAft>
                <a:spcPts val="500"/>
              </a:spcAft>
              <a:buNone/>
            </a:pPr>
            <a:r>
              <a:rPr lang="pt-BR" sz="1500" b="1">
                <a:solidFill>
                  <a:srgbClr val="FFFFFF"/>
                </a:solidFill>
                <a:latin typeface="Calibri"/>
              </a:rPr>
              <a:t>Automático: </a:t>
            </a:r>
            <a:r>
              <a:rPr lang="pt-BR" sz="1500" b="0">
                <a:solidFill>
                  <a:srgbClr val="C9D6E0"/>
                </a:solidFill>
                <a:latin typeface="Calibri"/>
              </a:rPr>
              <a:t>a plataforma escolhe o modelo ou o agente age sozinho.</a:t>
            </a:r>
          </a:p>
          <a:p>
            <a:pPr algn="l">
              <a:spcAft>
                <a:spcPts val="500"/>
              </a:spcAft>
              <a:buNone/>
            </a:pPr>
            <a:r>
              <a:rPr lang="pt-BR" sz="1500" b="1">
                <a:solidFill>
                  <a:srgbClr val="FFFFFF"/>
                </a:solidFill>
                <a:latin typeface="Calibri"/>
              </a:rPr>
              <a:t>Com aprovação: </a:t>
            </a:r>
            <a:r>
              <a:rPr lang="pt-BR" sz="1500" b="0">
                <a:solidFill>
                  <a:srgbClr val="C9D6E0"/>
                </a:solidFill>
                <a:latin typeface="Calibri"/>
              </a:rPr>
              <a:t>exija antes de enviar, publicar, alterar registros ou decidir sobre pessoas.</a:t>
            </a:r>
          </a:p>
        </p:txBody>
      </p:sp>
      <p:sp>
        <p:nvSpPr>
          <p:cNvPr id="10" name="Caixa 10"/>
          <p:cNvSpPr txBox="1"/>
          <p:nvPr/>
        </p:nvSpPr>
        <p:spPr>
          <a:xfrm>
            <a:off x="1920240" y="5943600"/>
            <a:ext cx="9509760" cy="420000"/>
          </a:xfrm>
          <a:prstGeom prst="rect">
            <a:avLst/>
          </a:prstGeom>
          <a:noFill/>
        </p:spPr>
        <p:txBody>
          <a:bodyPr wrap="square" anchor="t" lIns="45720" rIns="45720">
            <a:normAutofit/>
          </a:bodyPr>
          <a:lstStyle/>
          <a:p>
            <a:pPr algn="l">
              <a:spcAft>
                <a:spcPts val="700"/>
              </a:spcAft>
              <a:buNone/>
            </a:pPr>
            <a:r>
              <a:rPr lang="pt-BR" sz="1500" b="0">
                <a:solidFill>
                  <a:srgbClr val="C9D6E0"/>
                </a:solidFill>
                <a:latin typeface="Calibri"/>
              </a:rPr>
              <a:t>Orientações completas: </a:t>
            </a:r>
            <a:r>
              <a:rPr lang="pt-BR" sz="1500" b="1">
                <a:solidFill>
                  <a:srgbClr val="29ABE2"/>
                </a:solidFill>
                <a:latin typeface="Calibri"/>
                <a:hlinkClick r:id="rIdGuia"/>
              </a:rPr>
              <a:t>Guia de introdução: a tela de uma IA</a:t>
            </a:r>
            <a:r>
              <a:rPr lang="pt-BR" sz="1500" b="0">
                <a:solidFill>
                  <a:srgbClr val="C9D6E0"/>
                </a:solidFill>
                <a:latin typeface="Calibri"/>
              </a:rPr>
              <a:t> (apoio/fundamentos)</a:t>
            </a:r>
          </a:p>
        </p:txBody>
      </p:sp>
      <p:pic>
        <p:nvPicPr>
          <p:cNvPr id="41" name="Sol: ponto de decisão" descr="Sol: ponto de decisão"/>
          <p:cNvPicPr>
            <a:picLocks noChangeAspect="1"/>
          </p:cNvPicPr>
          <p:nvPr/>
        </p:nvPicPr>
        <p:blipFill>
          <a:blip r:embed="rIdSol"/>
          <a:stretch>
            <a:fillRect/>
          </a:stretch>
        </p:blipFill>
        <p:spPr>
          <a:xfrm>
            <a:off x="10727120" y="1847360"/>
            <a:ext cx="400000" cy="4000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77240" y="411480"/>
            <a:ext cx="969264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3600" b="1">
                <a:solidFill>
                  <a:srgbClr val="7ED957"/>
                </a:solidFill>
                <a:latin typeface="Calibri"/>
              </a:rPr>
              <a:t>Extensões: </a:t>
            </a:r>
            <a:r>
              <a:rPr sz="3600" b="1">
                <a:solidFill>
                  <a:srgbClr val="FFFFFF"/>
                </a:solidFill>
                <a:latin typeface="Calibri"/>
              </a:rPr>
              <a:t>a IA que age nos sites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097280"/>
            <a:ext cx="987552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>
                <a:solidFill>
                  <a:srgbClr val="7ED957"/>
                </a:solidFill>
                <a:latin typeface="Calibri"/>
              </a:rPr>
              <a:t>Lê a aba aberta, clica e preenche, com a sua aprovação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72768"/>
            <a:ext cx="4206240" cy="25603"/>
          </a:xfrm>
          <a:prstGeom prst="rect">
            <a:avLst/>
          </a:prstGeom>
          <a:solidFill>
            <a:srgbClr val="7ED9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4946903" y="1531620"/>
            <a:ext cx="128016" cy="128016"/>
          </a:xfrm>
          <a:prstGeom prst="ellipse">
            <a:avLst/>
          </a:prstGeom>
          <a:solidFill>
            <a:srgbClr val="7ED9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Infográfico: extensões de navegador, fluxo e cuidados" descr="Infográfico: extensões de navegador, fluxo e cuidados">
            <a:hlinkClick r:id="rIdGuia"/>
          </p:cNvPr>
          <p:cNvPicPr>
            <a:picLocks noChangeAspect="1"/>
          </p:cNvPicPr>
          <p:nvPr/>
        </p:nvPicPr>
        <p:blipFill>
          <a:blip r:embed="rIdInfo"/>
          <a:stretch>
            <a:fillRect/>
          </a:stretch>
        </p:blipFill>
        <p:spPr>
          <a:xfrm>
            <a:off x="777240" y="1737360"/>
            <a:ext cx="5878285" cy="3840480"/>
          </a:xfrm>
          <a:prstGeom prst="rect">
            <a:avLst/>
          </a:prstGeom>
        </p:spPr>
      </p:pic>
      <p:sp>
        <p:nvSpPr>
          <p:cNvPr id="8" name="Caixa 8"/>
          <p:cNvSpPr txBox="1"/>
          <p:nvPr/>
        </p:nvSpPr>
        <p:spPr>
          <a:xfrm>
            <a:off x="6884125" y="1737360"/>
            <a:ext cx="4530635" cy="3840480"/>
          </a:xfrm>
          <a:prstGeom prst="rect">
            <a:avLst/>
          </a:prstGeom>
          <a:noFill/>
        </p:spPr>
        <p:txBody>
          <a:bodyPr wrap="square" anchor="t" lIns="45720" rIns="45720">
            <a:normAutofit/>
          </a:bodyPr>
          <a:lstStyle/>
          <a:p>
            <a:pPr algn="l">
              <a:spcAft>
                <a:spcPts val="700"/>
              </a:spcAft>
              <a:buNone/>
            </a:pPr>
            <a:r>
              <a:rPr lang="pt-BR" sz="1800" b="1">
                <a:solidFill>
                  <a:srgbClr val="7ED957"/>
                </a:solidFill>
                <a:latin typeface="Calibri"/>
              </a:rPr>
              <a:t>Regra de ouro</a:t>
            </a:r>
          </a:p>
          <a:p>
            <a:pPr algn="l" marL="285750" indent="-285750">
              <a:spcAft>
                <a:spcPts val="700"/>
              </a:spcAft>
              <a:buFont typeface="Arial"/>
              <a:buChar char="•"/>
            </a:pPr>
            <a:r>
              <a:rPr lang="pt-BR" sz="1500" b="1">
                <a:solidFill>
                  <a:srgbClr val="FFFFFF"/>
                </a:solidFill>
                <a:latin typeface="Calibri"/>
              </a:rPr>
              <a:t>Perfil de navegador separado, </a:t>
            </a:r>
            <a:r>
              <a:rPr lang="pt-BR" sz="1500" b="0">
                <a:solidFill>
                  <a:srgbClr val="FFFFFF"/>
                </a:solidFill>
                <a:latin typeface="Calibri"/>
              </a:rPr>
              <a:t>sem sistemas da escola abertos.</a:t>
            </a:r>
          </a:p>
          <a:p>
            <a:pPr algn="l" marL="285750" indent="-285750">
              <a:spcAft>
                <a:spcPts val="700"/>
              </a:spcAft>
              <a:buFont typeface="Arial"/>
              <a:buChar char="•"/>
            </a:pPr>
            <a:r>
              <a:rPr lang="pt-BR" sz="1500" b="1">
                <a:solidFill>
                  <a:srgbClr val="FFFFFF"/>
                </a:solidFill>
                <a:latin typeface="Calibri"/>
              </a:rPr>
              <a:t>Só os sites necessários </a:t>
            </a:r>
            <a:r>
              <a:rPr lang="pt-BR" sz="1500" b="0">
                <a:solidFill>
                  <a:srgbClr val="FFFFFF"/>
                </a:solidFill>
                <a:latin typeface="Calibri"/>
              </a:rPr>
              <a:t>e aprovação manual.</a:t>
            </a:r>
          </a:p>
          <a:p>
            <a:pPr algn="l" marL="285750" indent="-285750">
              <a:spcAft>
                <a:spcPts val="700"/>
              </a:spcAft>
              <a:buFont typeface="Arial"/>
              <a:buChar char="•"/>
            </a:pPr>
            <a:r>
              <a:rPr lang="pt-BR" sz="1500" b="1">
                <a:solidFill>
                  <a:srgbClr val="FFFFFF"/>
                </a:solidFill>
                <a:latin typeface="Calibri"/>
              </a:rPr>
              <a:t>Comece pelo reversível: </a:t>
            </a:r>
            <a:r>
              <a:rPr lang="pt-BR" sz="1500" b="0">
                <a:solidFill>
                  <a:srgbClr val="FFFFFF"/>
                </a:solidFill>
                <a:latin typeface="Calibri"/>
              </a:rPr>
              <a:t>rascunhos, eventos, formulários não publicados.</a:t>
            </a:r>
          </a:p>
        </p:txBody>
      </p:sp>
      <p:sp>
        <p:nvSpPr>
          <p:cNvPr id="9" name="Caixa 9"/>
          <p:cNvSpPr txBox="1"/>
          <p:nvPr/>
        </p:nvSpPr>
        <p:spPr>
          <a:xfrm>
            <a:off x="1920240" y="5943600"/>
            <a:ext cx="9509760" cy="420000"/>
          </a:xfrm>
          <a:prstGeom prst="rect">
            <a:avLst/>
          </a:prstGeom>
          <a:noFill/>
        </p:spPr>
        <p:txBody>
          <a:bodyPr wrap="square" anchor="t" lIns="45720" rIns="45720">
            <a:normAutofit/>
          </a:bodyPr>
          <a:lstStyle/>
          <a:p>
            <a:pPr algn="l">
              <a:spcAft>
                <a:spcPts val="700"/>
              </a:spcAft>
              <a:buNone/>
            </a:pPr>
            <a:r>
              <a:rPr lang="pt-BR" sz="1500" b="0">
                <a:solidFill>
                  <a:srgbClr val="C9D6E0"/>
                </a:solidFill>
                <a:latin typeface="Calibri"/>
              </a:rPr>
              <a:t>Orientações completas: </a:t>
            </a:r>
            <a:r>
              <a:rPr lang="pt-BR" sz="1500" b="1">
                <a:solidFill>
                  <a:srgbClr val="29ABE2"/>
                </a:solidFill>
                <a:latin typeface="Calibri"/>
                <a:hlinkClick r:id="rIdGuia"/>
              </a:rPr>
              <a:t>Guia de introdução: a tela de uma IA</a:t>
            </a:r>
            <a:r>
              <a:rPr lang="pt-BR" sz="1500" b="0">
                <a:solidFill>
                  <a:srgbClr val="C9D6E0"/>
                </a:solidFill>
                <a:latin typeface="Calibri"/>
              </a:rPr>
              <a:t> (apoio/fundamentos)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77240" y="411480"/>
            <a:ext cx="969264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3600" b="1">
                <a:solidFill>
                  <a:srgbClr val="7ED957"/>
                </a:solidFill>
                <a:latin typeface="Calibri"/>
              </a:rPr>
              <a:t>Saiba </a:t>
            </a:r>
            <a:r>
              <a:rPr sz="3600" b="1">
                <a:solidFill>
                  <a:srgbClr val="FFFFFF"/>
                </a:solidFill>
                <a:latin typeface="Calibri"/>
              </a:rPr>
              <a:t>mais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097280"/>
            <a:ext cx="987552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>
                <a:solidFill>
                  <a:srgbClr val="7ED957"/>
                </a:solidFill>
                <a:latin typeface="Calibri"/>
              </a:rPr>
              <a:t>Palestras e conversas de Mary Grace Pereira Andrioli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72768"/>
            <a:ext cx="4206240" cy="25603"/>
          </a:xfrm>
          <a:prstGeom prst="rect">
            <a:avLst/>
          </a:prstGeom>
          <a:solidFill>
            <a:srgbClr val="7ED9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4946903" y="1531620"/>
            <a:ext cx="128016" cy="128016"/>
          </a:xfrm>
          <a:prstGeom prst="ellipse">
            <a:avLst/>
          </a:prstGeom>
          <a:solidFill>
            <a:srgbClr val="7ED9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Caixa 7"/>
          <p:cNvSpPr txBox="1"/>
          <p:nvPr/>
        </p:nvSpPr>
        <p:spPr>
          <a:xfrm>
            <a:off x="777240" y="1828800"/>
            <a:ext cx="10607040" cy="3900000"/>
          </a:xfrm>
          <a:prstGeom prst="rect">
            <a:avLst/>
          </a:prstGeom>
          <a:noFill/>
        </p:spPr>
        <p:txBody>
          <a:bodyPr wrap="square" anchor="t" lIns="45720" rIns="45720">
            <a:normAutofit/>
          </a:bodyPr>
          <a:lstStyle/>
          <a:p>
            <a:pPr algn="l">
              <a:spcAft>
                <a:spcPts val="1100"/>
              </a:spcAft>
              <a:buNone/>
            </a:pPr>
            <a:r>
              <a:rPr lang="pt-BR" sz="1700" b="1">
                <a:solidFill>
                  <a:srgbClr val="7ED957"/>
                </a:solidFill>
                <a:latin typeface="Calibri"/>
              </a:rPr>
              <a:t>▶  </a:t>
            </a:r>
            <a:r>
              <a:rPr lang="pt-BR" sz="1700" b="1">
                <a:solidFill>
                  <a:srgbClr val="29ABE2"/>
                </a:solidFill>
                <a:latin typeface="Calibri"/>
                <a:hlinkClick r:id="rIdV0"/>
              </a:rPr>
              <a:t>Educadores Conectados: Competências digitais para professores alfabetizadores</a:t>
            </a:r>
          </a:p>
          <a:p>
            <a:pPr algn="l">
              <a:spcAft>
                <a:spcPts val="1100"/>
              </a:spcAft>
              <a:buNone/>
            </a:pPr>
            <a:r>
              <a:rPr lang="pt-BR" sz="1700" b="1">
                <a:solidFill>
                  <a:srgbClr val="7ED957"/>
                </a:solidFill>
                <a:latin typeface="Calibri"/>
              </a:rPr>
              <a:t>▶  </a:t>
            </a:r>
            <a:r>
              <a:rPr lang="pt-BR" sz="1700" b="1">
                <a:solidFill>
                  <a:srgbClr val="29ABE2"/>
                </a:solidFill>
                <a:latin typeface="Calibri"/>
                <a:hlinkClick r:id="rIdV1"/>
              </a:rPr>
              <a:t>Tecnologias assistivas e IA na educação — Ceforcast, episódio 5</a:t>
            </a:r>
          </a:p>
          <a:p>
            <a:pPr algn="l">
              <a:spcAft>
                <a:spcPts val="1100"/>
              </a:spcAft>
              <a:buNone/>
            </a:pPr>
            <a:r>
              <a:rPr lang="pt-BR" sz="1700" b="1">
                <a:solidFill>
                  <a:srgbClr val="7ED957"/>
                </a:solidFill>
                <a:latin typeface="Calibri"/>
              </a:rPr>
              <a:t>▶  </a:t>
            </a:r>
            <a:r>
              <a:rPr lang="pt-BR" sz="1700" b="1">
                <a:solidFill>
                  <a:srgbClr val="29ABE2"/>
                </a:solidFill>
                <a:latin typeface="Calibri"/>
                <a:hlinkClick r:id="rIdV2"/>
              </a:rPr>
              <a:t>Inteligência Artificial com Propósito: estratégias criativas e inclusivas na Educação Básica</a:t>
            </a:r>
          </a:p>
          <a:p>
            <a:pPr algn="l">
              <a:spcAft>
                <a:spcPts val="1100"/>
              </a:spcAft>
              <a:buNone/>
            </a:pPr>
            <a:r>
              <a:rPr lang="pt-BR" sz="1700" b="1">
                <a:solidFill>
                  <a:srgbClr val="7ED957"/>
                </a:solidFill>
                <a:latin typeface="Calibri"/>
              </a:rPr>
              <a:t>▶  </a:t>
            </a:r>
            <a:r>
              <a:rPr lang="pt-BR" sz="1700" b="1">
                <a:solidFill>
                  <a:srgbClr val="29ABE2"/>
                </a:solidFill>
                <a:latin typeface="Calibri"/>
                <a:hlinkClick r:id="rIdV3"/>
              </a:rPr>
              <a:t>Docência e Inteligência Artificial</a:t>
            </a:r>
          </a:p>
          <a:p>
            <a:pPr algn="l">
              <a:spcAft>
                <a:spcPts val="1100"/>
              </a:spcAft>
              <a:buNone/>
            </a:pPr>
            <a:r>
              <a:rPr lang="pt-BR" sz="1700" b="1">
                <a:solidFill>
                  <a:srgbClr val="7ED957"/>
                </a:solidFill>
                <a:latin typeface="Calibri"/>
              </a:rPr>
              <a:t>▶  </a:t>
            </a:r>
            <a:r>
              <a:rPr lang="pt-BR" sz="1700" b="1">
                <a:solidFill>
                  <a:srgbClr val="29ABE2"/>
                </a:solidFill>
                <a:latin typeface="Calibri"/>
                <a:hlinkClick r:id="rIdV4"/>
              </a:rPr>
              <a:t>Maratona Internacional da I2AI — 8º dia: lançamento do livro Inteligência Artificial na Educação Básica: conceitos, práticas e ética</a:t>
            </a:r>
          </a:p>
        </p:txBody>
      </p:sp>
      <p:sp>
        <p:nvSpPr>
          <p:cNvPr id="8" name="Caixa 8"/>
          <p:cNvSpPr txBox="1"/>
          <p:nvPr/>
        </p:nvSpPr>
        <p:spPr>
          <a:xfrm>
            <a:off x="1920240" y="5943600"/>
            <a:ext cx="9509760" cy="420000"/>
          </a:xfrm>
          <a:prstGeom prst="rect">
            <a:avLst/>
          </a:prstGeom>
          <a:noFill/>
        </p:spPr>
        <p:txBody>
          <a:bodyPr wrap="square" anchor="t" lIns="45720" rIns="45720">
            <a:normAutofit/>
          </a:bodyPr>
          <a:lstStyle/>
          <a:p>
            <a:pPr algn="l">
              <a:spcAft>
                <a:spcPts val="700"/>
              </a:spcAft>
              <a:buNone/>
            </a:pPr>
            <a:r>
              <a:rPr lang="pt-BR" sz="1400" b="0">
                <a:solidFill>
                  <a:srgbClr val="C9D6E0"/>
                </a:solidFill>
                <a:latin typeface="Calibri"/>
              </a:rPr>
              <a:t>Vídeos no YouTube. Clique no título para abrir.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29ABE2"/>
      </a:hlink>
      <a:folHlink>
        <a:srgbClr val="7ED957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</TotalTime>
  <Words>3783</Words>
  <Application>Microsoft Macintosh PowerPoint</Application>
  <PresentationFormat>Widescreen</PresentationFormat>
  <Paragraphs>347</Paragraphs>
  <Slides>30</Slides>
  <Notes>27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30</vt:i4>
      </vt:variant>
    </vt:vector>
  </HeadingPairs>
  <TitlesOfParts>
    <vt:vector size="33" baseType="lpstr">
      <vt:lpstr>Arial</vt:lpstr>
      <vt:lpstr>Calibri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Mary Andrioli</cp:lastModifiedBy>
  <cp:revision>7</cp:revision>
  <dcterms:created xsi:type="dcterms:W3CDTF">2013-01-27T09:14:16Z</dcterms:created>
  <dcterms:modified xsi:type="dcterms:W3CDTF">2026-08-18T23:21:28Z</dcterms:modified>
  <cp:category/>
</cp:coreProperties>
</file>