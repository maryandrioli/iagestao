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85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Humus Educação | 5 de novembro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686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7ED957"/>
                </a:solidFill>
                <a:latin typeface="Calibri"/>
              </a:rPr>
              <a:t>Inteligência artificial na gestão escolar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154680"/>
            <a:ext cx="384048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8114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Uso estratégico, ético e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6E0"/>
                </a:solidFill>
                <a:latin typeface="Calibri"/>
              </a:rPr>
              <a:t>Profa. Dra. Mary Grace Pereira Andrioli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828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9ABE2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8686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Fundamentos, panorama e cultura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70332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43984" y="366217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8620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Vocabulário para decidir, e não apenas para operar.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9h30 às 10h20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formas de IA </a:t>
            </a:r>
            <a:r>
              <a:rPr sz="3600" b="1">
                <a:solidFill>
                  <a:srgbClr val="FFFFFF"/>
                </a:solidFill>
                <a:latin typeface="Calibri"/>
              </a:rPr>
              <a:t>convivem na escola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Cada uma responde a um tipo de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PREVER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preditiva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"O que vai acontecer?" Classifica, prevê e recomenda.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PRODUZIR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"Produza para mim." Cria texto, imagem e áudio.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EXECUTAR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IA agêntica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"Resolva este processo." Planeja e executa etapas.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Pergunta: </a:t>
            </a:r>
            <a:r>
              <a:rPr sz="2000" b="0">
                <a:solidFill>
                  <a:srgbClr val="FFFFFF"/>
                </a:solidFill>
                <a:latin typeface="Calibri"/>
              </a:rPr>
              <a:t>o que os sistemas já contratados pela escola decidem sozinhos?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preditiva: </a:t>
            </a:r>
            <a:r>
              <a:rPr sz="3600" b="1">
                <a:solidFill>
                  <a:srgbClr val="FFFFFF"/>
                </a:solidFill>
                <a:latin typeface="Calibri"/>
              </a:rPr>
              <a:t>prever a partir do passado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não cria conteúdo: encontra padrões em dados já existentes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PREVER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Aprende padrões em dados históricos e devolve uma classificação, uma previsão ou uma recomendação.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Alerta de risco de evasão (frequência e notas)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Trilhas sugeridas por plataformas adaptativas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Correção de itens objetivos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Previsão de rematrículas e de formação de turmas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dado enviesado gera rótulo injusto; decisão sobre estudante exige revisão humana.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generativa: </a:t>
            </a:r>
            <a:r>
              <a:rPr sz="3600" b="1">
                <a:solidFill>
                  <a:srgbClr val="FFFFFF"/>
                </a:solidFill>
                <a:latin typeface="Calibri"/>
              </a:rPr>
              <a:t>produzir a partir de um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cria algo novo, escolhendo o que é mais provável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PRODUZIR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Recebe uma instrução e produz texto, imagem, áudio ou código novos, palavra por palavra.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Comunicado em versões para famílias, equipe e redes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Ata a partir da transcrição da reunião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Rubricas e variações de uma atividade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Resumo de documentos longos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inventa com segurança e tende ao tom genérico. Quem assina, revisa.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Quatro noções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explicam acertos 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Não é preciso entender de tecnologia, mas saber o que esperar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Predição provável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Compõe a resposta mais provável, não a verdadeira.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Alucinação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fluência que convence também inventa leis e autores.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Janela de contexto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Conversa longa esgota o que a IA "enxerga".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166360" cy="1600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Corte de conhecimento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Pode não conhecer a norma ou o calendário recentes.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Três limites </a:t>
            </a:r>
            <a:r>
              <a:rPr sz="3600" b="1">
                <a:solidFill>
                  <a:srgbClr val="FFFFFF"/>
                </a:solidFill>
                <a:latin typeface="Calibri"/>
              </a:rPr>
              <a:t>que pesam para quem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O que o Referencial do MEC (2026) destaca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Não compreende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Não formula intenções nem exerce juízo.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Confirma premissas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Tende a concordar com quem pergunta, mesmo com premissas frágeis.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9260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É caixa-preta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Não se acompanha o caminho interno de uma resposta.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Referencial para Desenvolvimento e Uso Responsáveis de IA na Educação, MEC,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IA agêntica: </a:t>
            </a:r>
            <a:r>
              <a:rPr sz="3600" b="1">
                <a:solidFill>
                  <a:srgbClr val="FFFFFF"/>
                </a:solidFill>
                <a:latin typeface="Calibri"/>
              </a:rPr>
              <a:t>delegar um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Ela não só responde: age, usando ferramentas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0" cy="324612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EXECUTAR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Como funciona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Recebe um objetivo, planeja as etapas, usa ferramentas (arquivos, e-mail, agenda, navegador) e executa até entregar.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74519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NA ESCOLA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24028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Conferir um lote de planos e preparar devolutivas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Organizar a comunicação da semana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Triar a caixa de entrada da secretaria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Montar relatórios a partir de planilhas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Cuidado: </a:t>
            </a:r>
            <a:r>
              <a:rPr sz="2000" b="0">
                <a:solidFill>
                  <a:srgbClr val="FFFFFF"/>
                </a:solidFill>
                <a:latin typeface="Calibri"/>
              </a:rPr>
              <a:t>quanto mais autonomia, mais claro deve estar onde uma pessoa aprova.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Assistente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ou agente?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A diferença está em quem conduz as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ASSISTENTE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Você conduz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pede, ele responde, uma etapa por vez. Ex.: projeto que redige comunicados no tom da escola.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Ele conduz, você aprova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dá o objetivo; ele planeja, usa ferramentas, executa e para nos pontos combinados.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O modelo é o cérebro; o agente é o corpo: </a:t>
            </a:r>
            <a:r>
              <a:rPr sz="2000" b="0">
                <a:solidFill>
                  <a:srgbClr val="FFFFFF"/>
                </a:solidFill>
                <a:latin typeface="Calibri"/>
              </a:rPr>
              <a:t>instruções, ferramentas e memória em torno do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que é um agente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no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Quatro peças que trabalham juntas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Modelo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Claude, que lê, raciocina e escreve.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Instruções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Projeto ou skill com papel, regras e critérios da escola.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Ferramentas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Drive, Gmail, Agenda, pastas do computador, extensão do Chrome.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1965960"/>
            <a:ext cx="248031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Ciclo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Planeja, executa, confere e pede aprovação.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Na prática: </a:t>
            </a:r>
            <a:r>
              <a:rPr sz="2000" b="0">
                <a:solidFill>
                  <a:srgbClr val="FFFFFF"/>
                </a:solidFill>
                <a:latin typeface="Calibri"/>
              </a:rPr>
              <a:t>você descreve o objetivo, ele mostra o plano, você aprova, ele executa e relata o que fez.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Um agente, um processo: </a:t>
            </a:r>
            <a:r>
              <a:rPr sz="3600" b="1">
                <a:solidFill>
                  <a:srgbClr val="FFFFFF"/>
                </a:solidFill>
                <a:latin typeface="Calibri"/>
              </a:rPr>
              <a:t>conferência de planos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12 planos de aula entregues na sexta-feira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Lê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Abre os 12 planos na pasta do Drive.</a:t>
            </a:r>
          </a:p>
        </p:txBody>
      </p:sp>
      <p:sp>
        <p:nvSpPr>
          <p:cNvPr id="8" name="Chevron 7"/>
          <p:cNvSpPr/>
          <p:nvPr/>
        </p:nvSpPr>
        <p:spPr>
          <a:xfrm>
            <a:off x="269930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448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Confere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Aplica o checklist da escola a cada plano.</a:t>
            </a:r>
          </a:p>
        </p:txBody>
      </p:sp>
      <p:sp>
        <p:nvSpPr>
          <p:cNvPr id="10" name="Chevron 9"/>
          <p:cNvSpPr/>
          <p:nvPr/>
        </p:nvSpPr>
        <p:spPr>
          <a:xfrm>
            <a:off x="488655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5172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Sintetiza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Tabela com as lacunas mais frequentes.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379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97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Redige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Rascunho de devolutiva por professor.</a:t>
            </a:r>
          </a:p>
        </p:txBody>
      </p:sp>
      <p:sp>
        <p:nvSpPr>
          <p:cNvPr id="14" name="Chevron 13"/>
          <p:cNvSpPr/>
          <p:nvPr/>
        </p:nvSpPr>
        <p:spPr>
          <a:xfrm>
            <a:off x="926104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621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Coordenação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Revisa, ajusta e envia.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Ferramentas: </a:t>
            </a:r>
            <a:r>
              <a:rPr sz="2000" b="0">
                <a:solidFill>
                  <a:srgbClr val="FFFFFF"/>
                </a:solidFill>
                <a:latin typeface="Calibri"/>
              </a:rPr>
              <a:t>Drive para ler, checklist nas instruções, Gmail apenas para rascunhos.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Vários agentes: </a:t>
            </a:r>
            <a:r>
              <a:rPr sz="3600" b="1">
                <a:solidFill>
                  <a:srgbClr val="FFFFFF"/>
                </a:solidFill>
                <a:latin typeface="Calibri"/>
              </a:rPr>
              <a:t>comunicação da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cada agente faz uma parte e passa adiante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AGENDA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Levanta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Lista os eventos da semana no calendário.</a:t>
            </a:r>
          </a:p>
        </p:txBody>
      </p:sp>
      <p:sp>
        <p:nvSpPr>
          <p:cNvPr id="8" name="Chevron 7"/>
          <p:cNvSpPr/>
          <p:nvPr/>
        </p:nvSpPr>
        <p:spPr>
          <a:xfrm>
            <a:off x="269930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448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REDATOR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Escreve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Comunicado no tom de voz da escola.</a:t>
            </a:r>
          </a:p>
        </p:txBody>
      </p:sp>
      <p:sp>
        <p:nvSpPr>
          <p:cNvPr id="10" name="Chevron 9"/>
          <p:cNvSpPr/>
          <p:nvPr/>
        </p:nvSpPr>
        <p:spPr>
          <a:xfrm>
            <a:off x="488655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5172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ADAPTADOR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Adapta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Versões para famílias, equipe e redes.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379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97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Direção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Aprova o texto final.</a:t>
            </a:r>
          </a:p>
        </p:txBody>
      </p:sp>
      <p:sp>
        <p:nvSpPr>
          <p:cNvPr id="14" name="Chevron 13"/>
          <p:cNvSpPr/>
          <p:nvPr/>
        </p:nvSpPr>
        <p:spPr>
          <a:xfrm>
            <a:off x="926104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621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PUBLICADOR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Prepara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Deixa e-mails em rascunho e posts agendados.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Regra: </a:t>
            </a:r>
            <a:r>
              <a:rPr sz="2000" b="0">
                <a:solidFill>
                  <a:srgbClr val="FFFFFF"/>
                </a:solidFill>
                <a:latin typeface="Calibri"/>
              </a:rPr>
              <a:t>cada agente tem uma tarefa e um limite. Nenhum envia sem aprovação.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Quando há dado pessoal: </a:t>
            </a:r>
            <a:r>
              <a:rPr sz="3600" b="1">
                <a:solidFill>
                  <a:srgbClr val="FFFFFF"/>
                </a:solidFill>
                <a:latin typeface="Calibri"/>
              </a:rPr>
              <a:t>triagem da secretaria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Simulação: e-mails de famílias na segunda-feira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TRIAGEM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Classifica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Separa os e-mails por assunto.</a:t>
            </a:r>
          </a:p>
        </p:txBody>
      </p:sp>
      <p:sp>
        <p:nvSpPr>
          <p:cNvPr id="8" name="Chevron 7"/>
          <p:cNvSpPr/>
          <p:nvPr/>
        </p:nvSpPr>
        <p:spPr>
          <a:xfrm>
            <a:off x="269930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448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RESPOSTAS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Rascunha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Respostas para dúvidas frequentes.</a:t>
            </a:r>
          </a:p>
        </p:txBody>
      </p:sp>
      <p:sp>
        <p:nvSpPr>
          <p:cNvPr id="10" name="Chevron 9"/>
          <p:cNvSpPr/>
          <p:nvPr/>
        </p:nvSpPr>
        <p:spPr>
          <a:xfrm>
            <a:off x="488655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5172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AGENTE AGENDA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Propõe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Horários para reuniões pedidas.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3798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974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Secretaria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Confere e envia as respostas.</a:t>
            </a:r>
          </a:p>
        </p:txBody>
      </p:sp>
      <p:sp>
        <p:nvSpPr>
          <p:cNvPr id="14" name="Chevron 13"/>
          <p:cNvSpPr/>
          <p:nvPr/>
        </p:nvSpPr>
        <p:spPr>
          <a:xfrm>
            <a:off x="9261043" y="3086100"/>
            <a:ext cx="201168" cy="365760"/>
          </a:xfrm>
          <a:prstGeom prst="chevron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6219" y="1965960"/>
            <a:ext cx="1858060" cy="26060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31750">
            <a:solidFill>
              <a:srgbClr val="7ED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PESSOA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Casos sensíveis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Saúde, conflito e financeiro vão direto à equipe.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Antes de usar: </a:t>
            </a:r>
            <a:r>
              <a:rPr sz="2000" b="0">
                <a:solidFill>
                  <a:srgbClr val="FFFFFF"/>
                </a:solidFill>
                <a:latin typeface="Calibri"/>
              </a:rPr>
              <a:t>conta corporativa, política de uso e regra sobre dados (próximo bloco).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 receita de um agente </a:t>
            </a:r>
            <a:r>
              <a:rPr sz="3600" b="1">
                <a:solidFill>
                  <a:srgbClr val="FFFFFF"/>
                </a:solidFill>
                <a:latin typeface="Calibri"/>
              </a:rPr>
              <a:t>em seis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Vale para qualquer ferramenta, e é o que vamos usar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1264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Papel: </a:t>
            </a:r>
            <a:r>
              <a:rPr sz="2400" b="0">
                <a:solidFill>
                  <a:srgbClr val="FFFFFF"/>
                </a:solidFill>
                <a:latin typeface="Calibri"/>
              </a:rPr>
              <a:t>quem a IA é neste trabalho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Fontes: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pode e o que não pode usar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Tarefa: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exatamente deve fazer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Critérios: </a:t>
            </a:r>
            <a:r>
              <a:rPr sz="2400" b="0">
                <a:solidFill>
                  <a:srgbClr val="FFFFFF"/>
                </a:solidFill>
                <a:latin typeface="Calibri"/>
              </a:rPr>
              <a:t>o que é qualidade aqui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Saída: </a:t>
            </a:r>
            <a:r>
              <a:rPr sz="2400" b="0">
                <a:solidFill>
                  <a:srgbClr val="FFFFFF"/>
                </a:solidFill>
                <a:latin typeface="Calibri"/>
              </a:rPr>
              <a:t>em que formato entregar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20240"/>
            <a:ext cx="4251960" cy="33832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O SEXTO CAMPO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Onde a máquina para e uma pessoa assume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É o campo que quase ninguém escreve, e o que transforma uso improvisado em processo.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Não existe a melhor IA. </a:t>
            </a:r>
            <a:r>
              <a:rPr sz="3600" b="1">
                <a:solidFill>
                  <a:srgbClr val="FFFFFF"/>
                </a:solidFill>
                <a:latin typeface="Calibri"/>
              </a:rPr>
              <a:t>Existe a mais adequada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Pergunte sempre: qual ferramenta e qual modelo?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Claude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Documentos longos, projetos, artefatos e agentes.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ChatGPT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Uso geral e porta de entrada.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Gemini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Integração com o ambiente Google.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1965960"/>
            <a:ext cx="2480310" cy="22860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Manus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Execução autônoma de tarefas.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Antes de escolher: </a:t>
            </a:r>
            <a:r>
              <a:rPr sz="2200" b="0">
                <a:solidFill>
                  <a:srgbClr val="FFFFFF"/>
                </a:solidFill>
                <a:latin typeface="Calibri"/>
              </a:rPr>
              <a:t>preciso citar a fonte? Há dado pessoal? Vai se repetir? Quem confere depois?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De onde vem </a:t>
            </a:r>
            <a:r>
              <a:rPr sz="3600" b="1">
                <a:solidFill>
                  <a:srgbClr val="FFFFFF"/>
                </a:solidFill>
                <a:latin typeface="Calibri"/>
              </a:rPr>
              <a:t>a resposta?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Treinamento geral ou documentos que você escolheu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CONVERSA COMUM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Treinamento geral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Responde com o que aprendeu. Útil para ideias; arriscado para normas 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FONTES CARREGADAS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Seus documentos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NotebookLM e os projetos respondem a partir das fontes e mostram o trecho.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Lembram do notebook das normativas? </a:t>
            </a:r>
            <a:r>
              <a:rPr sz="2000" b="0">
                <a:solidFill>
                  <a:srgbClr val="FFFFFF"/>
                </a:solidFill>
                <a:latin typeface="Calibri"/>
              </a:rPr>
              <a:t>Fonte ruim gera resposta ruim, e mais documentos não significam resposta melhor.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Aberto, fechado, </a:t>
            </a:r>
            <a:r>
              <a:rPr sz="3600" b="1">
                <a:solidFill>
                  <a:srgbClr val="FFFFFF"/>
                </a:solidFill>
                <a:latin typeface="Calibri"/>
              </a:rPr>
              <a:t>nuvem ou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Muda o que a escola pode contratar e proteger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NUVEM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Fechado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Você usa, não vê dentro. Preço e termos mudam.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CUIDADO COM A PALAVRA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Aberto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Pesos, código, dados, governança: quase nenhum abre os quatro.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965960"/>
            <a:ext cx="3383279" cy="274320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PROCESSAMENTO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Local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Roda na máquina da escola. Confirme se nada sai dela.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D957"/>
                </a:solidFill>
                <a:latin typeface="Calibri"/>
              </a:rPr>
              <a:t>Sinal de dependência: </a:t>
            </a:r>
            <a:r>
              <a:rPr sz="2000" b="0">
                <a:solidFill>
                  <a:srgbClr val="FFFFFF"/>
                </a:solidFill>
                <a:latin typeface="Calibri"/>
              </a:rPr>
              <a:t>a ferramenta não deixa escolher o modelo nem exportar os dados.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39496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[Código Não Binário]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O gestor como </a:t>
            </a:r>
            <a:r>
              <a:rPr sz="3600" b="1">
                <a:solidFill>
                  <a:srgbClr val="FFFFFF"/>
                </a:solidFill>
                <a:latin typeface="Calibri"/>
              </a:rPr>
              <a:t>curador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Cultura de dados começa antes da ferramenta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603504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Finalidade explícita para cada uso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Só o mínimo de dados necessário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Prazo para guardar e para eliminar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7ED957"/>
                </a:solidFill>
                <a:latin typeface="Calibri"/>
              </a:rPr>
              <a:t>●  </a:t>
            </a:r>
            <a:r>
              <a:rPr sz="2400" b="0">
                <a:solidFill>
                  <a:srgbClr val="FFFFFF"/>
                </a:solidFill>
                <a:latin typeface="Calibri"/>
              </a:rPr>
              <a:t>Dado público, interno e pessoal separados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965960"/>
            <a:ext cx="4251960" cy="329184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9ABE2"/>
                </a:solidFill>
                <a:latin typeface="Calibri"/>
              </a:rPr>
              <a:t>LGPD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7ED957"/>
                </a:solidFill>
                <a:latin typeface="Calibri"/>
              </a:rPr>
              <a:t>Escola controladora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fornecedor opera os dados; a responsabilidade e o contrato são da escola.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Referencial do MEC (2026), seção 3.2.5; Lei nº 13.709/2018.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Diagnóstico </a:t>
            </a:r>
            <a:r>
              <a:rPr sz="3600" b="1">
                <a:solidFill>
                  <a:srgbClr val="FFFFFF"/>
                </a:solidFill>
                <a:latin typeface="Calibri"/>
              </a:rPr>
              <a:t>antes da ferramenta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ciclo simples para decidir com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1. Problema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Qual processo está mal resolvido?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6150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2. Alternativas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Há solução sem tecnologia?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3. Evidência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 que mostra que funciona?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3969" y="2103120"/>
            <a:ext cx="2480310" cy="2468880"/>
          </a:xfrm>
          <a:prstGeom prst="roundRect">
            <a:avLst>
              <a:gd name="adj" fmla="val 6000"/>
            </a:avLst>
          </a:prstGeom>
          <a:solidFill>
            <a:srgbClr val="0B2236"/>
          </a:solidFill>
          <a:ln w="15875">
            <a:solidFill>
              <a:srgbClr val="1B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ED957"/>
                </a:solidFill>
                <a:latin typeface="Calibri"/>
              </a:rPr>
              <a:t>4. Piloto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 prazo e quem confere.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Referencial do MEC (2026), seções 9.1 e 9.2.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11480"/>
            <a:ext cx="9692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7ED957"/>
                </a:solidFill>
                <a:latin typeface="Calibri"/>
              </a:rPr>
              <a:t>Acerto não é </a:t>
            </a:r>
            <a:r>
              <a:rPr sz="3600" b="1">
                <a:solidFill>
                  <a:srgbClr val="FFFFFF"/>
                </a:solidFill>
                <a:latin typeface="Calibri"/>
              </a:rPr>
              <a:t>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875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7ED957"/>
                </a:solidFill>
                <a:latin typeface="Calibri"/>
              </a:rPr>
              <a:t>Um caso para discutir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42062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46903" y="1531620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206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Em 2023, um tutor de IA testado em escolas de Newark errou ao contar as consoantes de uma palavra.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6E0"/>
                </a:solidFill>
                <a:latin typeface="Calibri"/>
              </a:rPr>
              <a:t>A própria empresa admitiu que ele "ajudou demais, depressa demais".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5029200" cy="338328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29ABE2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C9D6E0"/>
                </a:solidFill>
                <a:latin typeface="Calibri"/>
              </a:rPr>
              <a:t>Espaço para 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806440"/>
            <a:ext cx="9509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0"/>
                </a:solidFill>
                <a:latin typeface="Calibri"/>
              </a:rPr>
              <a:t>Estadão / The New York Times, julho de 2023.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737360"/>
            <a:ext cx="9601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IA não decide. Ela prepara a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154680"/>
            <a:ext cx="3291840" cy="25603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43984" y="3113532"/>
            <a:ext cx="128016" cy="128016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9601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7ED957"/>
                </a:solidFill>
                <a:latin typeface="Calibri"/>
              </a:rPr>
              <a:t>Supervisão humana significativa é princípio inegociável. Onde ela será obrigatória na sua escola?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8006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seguir: ética, inclusão e matriz de riscos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3783</Words>
  <Application>Microsoft Macintosh PowerPoint</Application>
  <PresentationFormat>Widescreen</PresentationFormat>
  <Paragraphs>347</Paragraphs>
  <Slides>30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Mary Andrioli</cp:lastModifiedBy>
  <cp:revision>7</cp:revision>
  <dcterms:created xsi:type="dcterms:W3CDTF">2013-01-27T09:14:16Z</dcterms:created>
  <dcterms:modified xsi:type="dcterms:W3CDTF">2026-08-18T23:21:28Z</dcterms:modified>
  <cp:category/>
</cp:coreProperties>
</file>